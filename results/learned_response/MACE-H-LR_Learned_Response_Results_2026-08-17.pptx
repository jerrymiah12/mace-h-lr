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0:00–0:35. This update closes the loop on the learned Born-charge and</a:t>
            </a:r>
          </a:p>
          <a:p>
            <a:r>
              <a:t>dielectric architecture. I will show three levels of evidence: whether the</a:t>
            </a:r>
          </a:p>
          <a:p>
            <a:r>
              <a:t>heads generalize on locked tensor labels, whether reconstructed full-H values</a:t>
            </a:r>
          </a:p>
          <a:p>
            <a:r>
              <a:t>improve, and whether geometry-dependent tensors change Cartesian-AO EPC.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0:35–1:25. The headline is nuanced. The tensor heads are not trivial constant</a:t>
            </a:r>
          </a:p>
          <a:p>
            <a:r>
              <a:t>predictors: both beat the locked baselines. Training preserved the short-range</a:t>
            </a:r>
          </a:p>
          <a:p>
            <a:r>
              <a:t>Hamiltonian. But at the current five-microångström EPC displacement, replacing</a:t>
            </a:r>
          </a:p>
          <a:p>
            <a:r>
              <a:t>fixed tensors with predicted geometry-dependent tensors produces essentially</a:t>
            </a:r>
          </a:p>
          <a:p>
            <a:r>
              <a:t>the same EPC. The direct full-H model remains best for H values and worst for</a:t>
            </a:r>
          </a:p>
          <a:p>
            <a:r>
              <a:t>the derivative observable.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1:25–2:10. The architectural change is explicit: one equivariant encoder</a:t>
            </a:r>
          </a:p>
          <a:p>
            <a:r>
              <a:t>branches to the short-range Hamiltonian, full atom-resolved Born tensors, and</a:t>
            </a:r>
          </a:p>
          <a:p>
            <a:r>
              <a:t>a symmetric positive-definite dielectric tensor. Acoustic sum rule and SPD</a:t>
            </a:r>
          </a:p>
          <a:p>
            <a:r>
              <a:t>constraints are built in. Training progressed from head-only to a limited</a:t>
            </a:r>
          </a:p>
          <a:p>
            <a:r>
              <a:t>final-block unfreeze, and the locked test was opened only after the model and</a:t>
            </a:r>
          </a:p>
          <a:p>
            <a:r>
              <a:t>learning rates were frozen.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2:10–2:55. The left panel gives context from the original Hamiltonian runs.</a:t>
            </a:r>
          </a:p>
          <a:p>
            <a:r>
              <a:t>The center panel shows that partial unfreezing did not push SR validation MSE</a:t>
            </a:r>
          </a:p>
          <a:p>
            <a:r>
              <a:t>through the three-times-ten-to-the-minus-six ceiling. On the right, both tensor</a:t>
            </a:r>
          </a:p>
          <a:p>
            <a:r>
              <a:t>tasks remain below their stricter zero-residual baselines for all ten epochs.</a:t>
            </a:r>
          </a:p>
          <a:p>
            <a:r>
              <a:t>The stop is a consecutive-gate criterion, not selection from one lucky epoch.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2:55–3:45. On the locked structures, Born MAE is 0.002369 electron versus a</a:t>
            </a:r>
          </a:p>
          <a:p>
            <a:r>
              <a:t>0.003201 training-mean baseline, a 26 percent reduction. Dielectric MAE falls</a:t>
            </a:r>
          </a:p>
          <a:p>
            <a:r>
              <a:t>by 73 percent. The physical outputs remain constrained: Born satisfies ASR to</a:t>
            </a:r>
          </a:p>
          <a:p>
            <a:r>
              <a:t>float32 accumulation precision, and all dielectric eigenvalues are positive.</a:t>
            </a:r>
          </a:p>
          <a:p>
            <a:r>
              <a:t>This is evidence that the heads learned signal, but only five locked examples</a:t>
            </a:r>
          </a:p>
          <a:p>
            <a:r>
              <a:t>are not enough for a production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3:45–4:30. On the same five locked structures, direct full-H remains best on</a:t>
            </a:r>
          </a:p>
          <a:p>
            <a:r>
              <a:t>matrix elements at 0.417 meV MAE. The old fixed-LR SR reconstruction is 0.487,</a:t>
            </a:r>
          </a:p>
          <a:p>
            <a:r>
              <a:t>and the predicted-tensor reconstruction is 0.485. So the new tensors make a</a:t>
            </a:r>
          </a:p>
          <a:p>
            <a:r>
              <a:t>small improvement to the SR reconstruction, but they do not close the value</a:t>
            </a:r>
          </a:p>
          <a:p>
            <a:r>
              <a:t>gap. The reconstruction is nevertheless complete and exact on every truth</a:t>
            </a:r>
          </a:p>
          <a:p>
            <a:r>
              <a:t>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4:30–5:15. The central EPC result remains stable. Direct full-H has 91.93</a:t>
            </a:r>
          </a:p>
          <a:p>
            <a:r>
              <a:t>percent relative L2 error. Both SR pipelines are around 24.4 percent. But the</a:t>
            </a:r>
          </a:p>
          <a:p>
            <a:r>
              <a:t>new geometry-dependent tensor pipeline is slightly worse, not better, than</a:t>
            </a:r>
          </a:p>
          <a:p>
            <a:r>
              <a:t>fixed-reference tensors by 0.077 percentage points. At this sensitivity, the</a:t>
            </a:r>
          </a:p>
          <a:p>
            <a:r>
              <a:t>new heads have neither helped nor damaged the EPC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5:15–6:00. The q-resolved view shows where the separation occurs. Direct</a:t>
            </a:r>
          </a:p>
          <a:p>
            <a:r>
              <a:t>full-H greatly overestimates EPC strength at finite q. The old fixed-tensor SR</a:t>
            </a:r>
          </a:p>
          <a:p>
            <a:r>
              <a:t>and new predicted-tensor SR curves overlap at every sampled q. Different line</a:t>
            </a:r>
          </a:p>
          <a:p>
            <a:r>
              <a:t>styles and markers are used because the numerical differences are otherwise</a:t>
            </a:r>
          </a:p>
          <a:p>
            <a:r>
              <a:t>too small to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6:00–6:45. The parity view confirms the same hierarchy: direct full-H has a</a:t>
            </a:r>
          </a:p>
          <a:p>
            <a:r>
              <a:t>much broader cloud around the DFT identity line, while both SR variants are</a:t>
            </a:r>
          </a:p>
          <a:p>
            <a:r>
              <a:t>tighter and nearly indistinguishable. The magnitude distributions show that</a:t>
            </a:r>
          </a:p>
          <a:p>
            <a:r>
              <a:t>the tensor change does not alter the current response manifold; both SR runs</a:t>
            </a:r>
          </a:p>
          <a:p>
            <a:r>
              <a:t>retain the same systematic differences from DFT.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6:45–7:35. The clean conclusion is not that tensor learning failed. The heads</a:t>
            </a:r>
          </a:p>
          <a:p>
            <a:r>
              <a:t>learned held-out structure dependence and the composed physics path works. The</a:t>
            </a:r>
          </a:p>
          <a:p>
            <a:r>
              <a:t>result we do not have is an EPC improvement from geometry-dependent tensors.</a:t>
            </a:r>
          </a:p>
          <a:p>
            <a:r>
              <a:t>We also cannot generalize from ten tensor-training structures, and a 2×2×2 q</a:t>
            </a:r>
          </a:p>
          <a:p>
            <a:r>
              <a:t>grid is not a small-q convergence study. These boundaries matter for how we</a:t>
            </a:r>
          </a:p>
          <a:p>
            <a:r>
              <a:t>describe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7:35–8:45. The immediate priority is a sensitivity experiment, not a larger</a:t>
            </a:r>
          </a:p>
          <a:p>
            <a:r>
              <a:t>network. The geometry-dependent correction may be invisible because the EPC</a:t>
            </a:r>
          </a:p>
          <a:p>
            <a:r>
              <a:t>displacement is only five microångströms. I would run a controlled displacement</a:t>
            </a:r>
          </a:p>
          <a:p>
            <a:r>
              <a:t>ladder, then add tensor labels chosen for response variation, and use matched</a:t>
            </a:r>
          </a:p>
          <a:p>
            <a:r>
              <a:t>initializations for the causal ablation. Dense q should come only after the</a:t>
            </a:r>
          </a:p>
          <a:p>
            <a:r>
              <a:t>effect is resolvable above finite-difference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8:45–9:30. The tensor-head implementation is successful as a prototype. It</a:t>
            </a:r>
          </a:p>
          <a:p>
            <a:r>
              <a:t>learns held-out tensor variation, preserves Hamiltonian stability, and closes</a:t>
            </a:r>
          </a:p>
          <a:p>
            <a:r>
              <a:t>the intended composed architecture. The current scientific outcome is that it</a:t>
            </a:r>
          </a:p>
          <a:p>
            <a:r>
              <a:t>does not yet change EPC. The next useful result is to establish whether that</a:t>
            </a:r>
          </a:p>
          <a:p>
            <a:r>
              <a:t>neutrality is physical, data-limited, or hidden below the finite-difference</a:t>
            </a:r>
          </a:p>
          <a:p>
            <a:r>
              <a:t>sensitivity. Then invite discussion on the next compute campaign.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280160" cy="256032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760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12224A"/>
                </a:solidFill>
                <a:latin typeface="Calibri"/>
              </a:rPr>
              <a:t>RESULTS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24712"/>
            <a:ext cx="7818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Learned response tensors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56231"/>
            <a:ext cx="75438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50" b="1" i="0">
                <a:solidFill>
                  <a:srgbClr val="DCE6F5"/>
                </a:solidFill>
                <a:latin typeface="Cambria"/>
              </a:rPr>
              <a:t>What Born-charge and dielectric heads change—and what they do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9C6DE"/>
                </a:solidFill>
                <a:latin typeface="Calibri"/>
              </a:rPr>
              <a:t>Hamiltonian  ·  </a:t>
            </a:r>
            <a:r>
              <a:rPr sz="1300" b="1">
                <a:solidFill>
                  <a:srgbClr val="02C39A"/>
                </a:solidFill>
                <a:latin typeface="Calibri"/>
              </a:rPr>
              <a:t>tensor generalization  ·  </a:t>
            </a:r>
            <a:r>
              <a:rPr sz="1300" b="0">
                <a:solidFill>
                  <a:srgbClr val="B9C6DE"/>
                </a:solidFill>
                <a:latin typeface="Calibri"/>
              </a:rPr>
              <a:t>Cartesian-AO EPC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03904"/>
            <a:ext cx="77266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B9C6DE"/>
                </a:solidFill>
                <a:latin typeface="Calibri"/>
              </a:rPr>
              <a:t>Four-way comparison: actual DFT · direct Full-H · LR-corrected SR · SR + predicted Z* + ε∞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52544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9C6DE"/>
                </a:solidFill>
                <a:latin typeface="Calibri"/>
              </a:rPr>
              <a:t>Bernardi Group, Caltech  ·  August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7293"/>
                </a:solidFill>
                <a:latin typeface="Calibri"/>
              </a:rPr>
              <a:t>EXECUTIVE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2224A"/>
                </a:solidFill>
                <a:latin typeface="Cambria"/>
              </a:rPr>
              <a:t>The heads learned the tensors; EPC is unchanged so far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88136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39327" y="25603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35024"/>
            <a:ext cx="1847088" cy="713232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26464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96000"/>
                </a:solidFill>
                <a:latin typeface="Cambria"/>
              </a:rPr>
              <a:t>0.0024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783080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LOCKED BORN MAE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335024"/>
            <a:ext cx="1847088" cy="713232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426464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D8A66"/>
                </a:solidFill>
                <a:latin typeface="Cambria"/>
              </a:rPr>
              <a:t>0.000389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783080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LOCKED ε∞ MAE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1144" y="1335024"/>
            <a:ext cx="1901952" cy="713232"/>
          </a:xfrm>
          <a:prstGeom prst="roundRect">
            <a:avLst>
              <a:gd name="adj" fmla="val 8000"/>
            </a:avLst>
          </a:prstGeom>
          <a:solidFill>
            <a:srgbClr val="E7F2F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426464"/>
            <a:ext cx="1682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77FB5"/>
                </a:solidFill>
                <a:latin typeface="Cambria"/>
              </a:rPr>
              <a:t>0.485 meV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1783080"/>
            <a:ext cx="1682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RECONSTRUCTED FULL-H MAE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335024"/>
            <a:ext cx="1920240" cy="7132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1426464"/>
            <a:ext cx="17007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C7293"/>
                </a:solidFill>
                <a:latin typeface="Cambria"/>
              </a:rPr>
              <a:t>24.43%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1783080"/>
            <a:ext cx="1700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PREDICTED-TENSOR EPC REL. L2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359152"/>
            <a:ext cx="960120" cy="25603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3682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LEARNED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377440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43447"/>
                </a:solidFill>
                <a:latin typeface="Calibri"/>
              </a:rPr>
              <a:t>Born and ε∞ beat training-mean baselines on five locked structures.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80360"/>
            <a:ext cx="960120" cy="256032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889503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PRESERVED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2898648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43447"/>
                </a:solidFill>
                <a:latin typeface="Calibri"/>
              </a:rPr>
              <a:t>Ten consecutive validation passes preserved SR-H accuracy.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01568"/>
            <a:ext cx="960120" cy="25603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10711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NEUTRAL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419856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43447"/>
                </a:solidFill>
                <a:latin typeface="Calibri"/>
              </a:rPr>
              <a:t>Predicted tensors change full-H values and EPC only marginally here.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922776"/>
            <a:ext cx="960120" cy="256032"/>
          </a:xfrm>
          <a:prstGeom prst="roundRect">
            <a:avLst>
              <a:gd name="adj" fmla="val 8000"/>
            </a:avLst>
          </a:prstGeom>
          <a:solidFill>
            <a:srgbClr val="B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93192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STILL 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3941063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43447"/>
                </a:solidFill>
                <a:latin typeface="Calibri"/>
              </a:rPr>
              <a:t>Direct Full-H is better on H values but much worse on EPC response.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901184"/>
            <a:ext cx="5303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MACE-H-LR  ·  LEARNED RESPONSE RESULTS  ·  17 AUG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901184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7293"/>
                </a:solidFill>
                <a:latin typeface="Calibri"/>
              </a:rPr>
              <a:t>MODEL +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24A"/>
                </a:solidFill>
                <a:latin typeface="Cambria"/>
              </a:rPr>
              <a:t>A shared encoder now predicts HSR, Z*, and ε∞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88136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39327" y="25603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73352"/>
            <a:ext cx="1143000" cy="84124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10512"/>
            <a:ext cx="9966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224A"/>
                </a:solidFill>
                <a:latin typeface="Cambria"/>
              </a:rPr>
              <a:t>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67128"/>
            <a:ext cx="996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R + lattice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47672" y="1508760"/>
            <a:ext cx="1298448" cy="841248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1645919"/>
            <a:ext cx="11521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MACE-H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2002536"/>
            <a:ext cx="11521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B9C6DE"/>
                </a:solidFill>
                <a:latin typeface="Calibri"/>
              </a:rPr>
              <a:t>shared encoder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66744" y="1170432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E7F2F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13075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77FB5"/>
                </a:solidFill>
                <a:latin typeface="Cambria"/>
              </a:rPr>
              <a:t>HSR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166420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edge head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66744" y="2011680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1488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D96000"/>
                </a:solidFill>
                <a:latin typeface="Cambria"/>
              </a:rPr>
              <a:t>Z*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250545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atom head + ASR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66744" y="2852928"/>
            <a:ext cx="1335024" cy="841248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9896" y="299008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D8A66"/>
                </a:solidFill>
                <a:latin typeface="Cambria"/>
              </a:rPr>
              <a:t>ε∞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9896" y="3346704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global SPD head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2120" y="1719072"/>
            <a:ext cx="1353312" cy="841248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5272" y="1856231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D8A66"/>
                </a:solidFill>
                <a:latin typeface="Cambria"/>
              </a:rPr>
              <a:t>Analytic HLR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5272" y="2212848"/>
            <a:ext cx="12070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predicted tensors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15783" y="1719072"/>
            <a:ext cx="1170432" cy="841248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88936" y="1856231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Hfull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6" y="2212848"/>
            <a:ext cx="10241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B9C6DE"/>
                </a:solidFill>
                <a:latin typeface="Calibri"/>
              </a:rPr>
              <a:t>HSR + HLR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19072" y="2093976"/>
            <a:ext cx="173735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1819655" y="2034540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3282696" y="1591056"/>
            <a:ext cx="320040" cy="356616"/>
          </a:xfrm>
          <a:prstGeom prst="line">
            <a:avLst/>
          </a:prstGeom>
          <a:ln w="2032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3529584" y="1531620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282696" y="1947672"/>
            <a:ext cx="320040" cy="484632"/>
          </a:xfrm>
          <a:prstGeom prst="line">
            <a:avLst/>
          </a:prstGeom>
          <a:ln w="2032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3529584" y="2372868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3282696" y="1947672"/>
            <a:ext cx="320040" cy="1325880"/>
          </a:xfrm>
          <a:prstGeom prst="line">
            <a:avLst/>
          </a:prstGeom>
          <a:ln w="2032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3529584" y="3214116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5038344" y="2139696"/>
            <a:ext cx="438912" cy="292608"/>
          </a:xfrm>
          <a:prstGeom prst="line">
            <a:avLst/>
          </a:prstGeom>
          <a:ln w="2286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5404104" y="2080260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5038344" y="2286000"/>
            <a:ext cx="438912" cy="987552"/>
          </a:xfrm>
          <a:prstGeom prst="line">
            <a:avLst/>
          </a:prstGeom>
          <a:ln w="2286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5404104" y="2226564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5038344" y="1591056"/>
            <a:ext cx="2304287" cy="347472"/>
          </a:xfrm>
          <a:prstGeom prst="line">
            <a:avLst/>
          </a:prstGeom>
          <a:ln w="2286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7269479" y="1879092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6922008" y="2139696"/>
            <a:ext cx="420623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7269479" y="2080260"/>
            <a:ext cx="118872" cy="118872"/>
          </a:xfrm>
          <a:prstGeom prst="triangl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" y="3986784"/>
            <a:ext cx="1755648" cy="56692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4944" y="4133087"/>
            <a:ext cx="292608" cy="25603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" y="4142231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" y="4069080"/>
            <a:ext cx="1143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2224A"/>
                </a:solidFill>
                <a:latin typeface="Calibri"/>
              </a:rPr>
              <a:t>Head-only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" y="4288536"/>
            <a:ext cx="1143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 i="0">
                <a:solidFill>
                  <a:srgbClr val="5A6B7B"/>
                </a:solidFill>
                <a:latin typeface="Calibri"/>
              </a:rPr>
              <a:t>freeze H + encoder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96896" y="3986784"/>
            <a:ext cx="1755648" cy="56692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688336" y="4133087"/>
            <a:ext cx="292608" cy="256032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88336" y="4142231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63240" y="4069080"/>
            <a:ext cx="1143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2224A"/>
                </a:solidFill>
                <a:latin typeface="Calibri"/>
              </a:rPr>
              <a:t>Partial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63240" y="4288536"/>
            <a:ext cx="1143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 i="0">
                <a:solidFill>
                  <a:srgbClr val="5A6B7B"/>
                </a:solidFill>
                <a:latin typeface="Calibri"/>
              </a:rPr>
              <a:t>unfreeze final block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90288" y="3986784"/>
            <a:ext cx="1755648" cy="56692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681728" y="4133087"/>
            <a:ext cx="292608" cy="25603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81728" y="4142231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56632" y="4069080"/>
            <a:ext cx="1143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2224A"/>
                </a:solidFill>
                <a:latin typeface="Calibri"/>
              </a:rPr>
              <a:t>Locked test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56632" y="4288536"/>
            <a:ext cx="1143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 i="0">
                <a:solidFill>
                  <a:srgbClr val="5A6B7B"/>
                </a:solidFill>
                <a:latin typeface="Calibri"/>
              </a:rPr>
              <a:t>open once after selection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0" y="3986784"/>
            <a:ext cx="1755648" cy="56692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675120" y="4133087"/>
            <a:ext cx="292608" cy="256032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4142231"/>
            <a:ext cx="2926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50024" y="4069080"/>
            <a:ext cx="1143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2224A"/>
                </a:solidFill>
                <a:latin typeface="Calibri"/>
              </a:rPr>
              <a:t>Two EPC modes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50024" y="4288536"/>
            <a:ext cx="1143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 i="0">
                <a:solidFill>
                  <a:srgbClr val="5A6B7B"/>
                </a:solidFill>
                <a:latin typeface="Calibri"/>
              </a:rPr>
              <a:t>frozen vs geometry-dependent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901184"/>
            <a:ext cx="5303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MACE-H-LR  ·  LEARNED RESPONSE RESULTS  ·  17 AUG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02752" y="4901184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7293"/>
                </a:solidFill>
                <a:latin typeface="Calibri"/>
              </a:rPr>
              <a:t>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2224A"/>
                </a:solidFill>
                <a:latin typeface="Cambria"/>
              </a:rPr>
              <a:t>Partial fine-tuning passed every gate for ten epochs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88136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39327" y="25603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225296"/>
            <a:ext cx="8266175" cy="3273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training_and_multitask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649977"/>
            <a:ext cx="8266175" cy="24241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4517136"/>
            <a:ext cx="7717536" cy="228600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572000"/>
            <a:ext cx="73883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Selected epoch 9: H MSE 2.857×10⁻⁶ · Born MAE 1.799×10⁻³ e · ε∞ MAE 3.386×10⁻⁴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01184"/>
            <a:ext cx="5303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MACE-H-LR  ·  LEARNED RESPONSE RESULTS  ·  17 AUG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4901184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7293"/>
                </a:solidFill>
                <a:latin typeface="Calibri"/>
              </a:rPr>
              <a:t>LOCKED TENSOR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24A"/>
                </a:solidFill>
                <a:latin typeface="Cambria"/>
              </a:rPr>
              <a:t>The heads generalize beyond a constant predictor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88136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39327" y="25603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2224A"/>
                </a:solidFill>
                <a:latin typeface="Calibri"/>
              </a:rPr>
              <a:t>Born tensor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0992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5A6B7B"/>
                </a:solidFill>
                <a:latin typeface="Calibri"/>
              </a:rPr>
              <a:t>training-mean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66543" y="1709928"/>
            <a:ext cx="2340863" cy="146304"/>
          </a:xfrm>
          <a:prstGeom prst="roundRect">
            <a:avLst>
              <a:gd name="adj" fmla="val 8000"/>
            </a:avLst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66543" y="1709928"/>
            <a:ext cx="2340863" cy="146304"/>
          </a:xfrm>
          <a:prstGeom prst="roundRect">
            <a:avLst>
              <a:gd name="adj" fmla="val 8000"/>
            </a:avLst>
          </a:prstGeom>
          <a:solidFill>
            <a:srgbClr val="5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6543" y="1892808"/>
            <a:ext cx="23408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5A6B7B"/>
                </a:solidFill>
                <a:latin typeface="Calibri"/>
              </a:rPr>
              <a:t>0.003201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1284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96000"/>
                </a:solidFill>
                <a:latin typeface="Calibri"/>
              </a:rPr>
              <a:t>learned 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66543" y="2212848"/>
            <a:ext cx="2340863" cy="146304"/>
          </a:xfrm>
          <a:prstGeom prst="roundRect">
            <a:avLst>
              <a:gd name="adj" fmla="val 8000"/>
            </a:avLst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66543" y="2212848"/>
            <a:ext cx="1732169" cy="146304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3" y="2395728"/>
            <a:ext cx="23408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1" i="0">
                <a:solidFill>
                  <a:srgbClr val="D96000"/>
                </a:solidFill>
                <a:latin typeface="Calibri"/>
              </a:rPr>
              <a:t>0.002369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1399032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2224A"/>
                </a:solidFill>
                <a:latin typeface="Calibri"/>
              </a:rPr>
              <a:t>Electronic dielectric tensor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70992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5A6B7B"/>
                </a:solidFill>
                <a:latin typeface="Calibri"/>
              </a:rPr>
              <a:t>training-mean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709928"/>
            <a:ext cx="2340863" cy="146304"/>
          </a:xfrm>
          <a:prstGeom prst="roundRect">
            <a:avLst>
              <a:gd name="adj" fmla="val 8000"/>
            </a:avLst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1709928"/>
            <a:ext cx="2340863" cy="146304"/>
          </a:xfrm>
          <a:prstGeom prst="roundRect">
            <a:avLst>
              <a:gd name="adj" fmla="val 8000"/>
            </a:avLst>
          </a:prstGeom>
          <a:solidFill>
            <a:srgbClr val="5A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1892808"/>
            <a:ext cx="23408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 i="0">
                <a:solidFill>
                  <a:srgbClr val="5A6B7B"/>
                </a:solidFill>
                <a:latin typeface="Calibri"/>
              </a:rPr>
              <a:t>0.001466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21284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2D8A66"/>
                </a:solidFill>
                <a:latin typeface="Calibri"/>
              </a:rPr>
              <a:t>learned head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2212848"/>
            <a:ext cx="2340863" cy="146304"/>
          </a:xfrm>
          <a:prstGeom prst="roundRect">
            <a:avLst>
              <a:gd name="adj" fmla="val 8000"/>
            </a:avLst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44768" y="2212848"/>
            <a:ext cx="621482" cy="146304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2395728"/>
            <a:ext cx="2340863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1" i="0">
                <a:solidFill>
                  <a:srgbClr val="2D8A66"/>
                </a:solidFill>
                <a:latin typeface="Calibri"/>
              </a:rPr>
              <a:t>0.000389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3026664"/>
            <a:ext cx="1664208" cy="713232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118104"/>
            <a:ext cx="14447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96000"/>
                </a:solidFill>
                <a:latin typeface="Cambria"/>
              </a:rPr>
              <a:t>26.0%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74720"/>
            <a:ext cx="14447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BORN MAE REDUCTION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15184" y="3026664"/>
            <a:ext cx="1664208" cy="713232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24912" y="3118104"/>
            <a:ext cx="14447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D8A66"/>
                </a:solidFill>
                <a:latin typeface="Cambria"/>
              </a:rPr>
              <a:t>73.5%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4912" y="3474720"/>
            <a:ext cx="14447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ε∞ MAE REDUCTION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3026664"/>
            <a:ext cx="1810512" cy="713232"/>
          </a:xfrm>
          <a:prstGeom prst="roundRect">
            <a:avLst>
              <a:gd name="adj" fmla="val 8000"/>
            </a:avLst>
          </a:prstGeom>
          <a:solidFill>
            <a:srgbClr val="E7F2F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27448" y="3118104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77FB5"/>
                </a:solidFill>
                <a:latin typeface="Cambria"/>
              </a:rPr>
              <a:t>1.88×10⁻⁵ 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7448" y="3474720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MAX BORN ASR RESIDUAL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3026664"/>
            <a:ext cx="1847088" cy="71323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8" y="3118104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C7293"/>
                </a:solidFill>
                <a:latin typeface="Cambria"/>
              </a:rPr>
              <a:t>3.326–3.333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8" y="3474720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PREDICTED ε∞ EIGENVALUES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4041648"/>
            <a:ext cx="7644383" cy="4754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4187952"/>
            <a:ext cx="7278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2224A"/>
                </a:solidFill>
                <a:latin typeface="Calibri"/>
              </a:rPr>
              <a:t>Evidence of geometry-dependent learning—not production generalization: 10 train · 2 validation · 5 locked test structures.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901184"/>
            <a:ext cx="5303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MACE-H-LR  ·  LEARNED RESPONSE RESULTS  ·  17 AUG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901184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7293"/>
                </a:solidFill>
                <a:latin typeface="Calibri"/>
              </a:rPr>
              <a:t>HAMILTONIAN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24A"/>
                </a:solidFill>
                <a:latin typeface="Cambria"/>
              </a:rPr>
              <a:t>Predicted tensors barely change full-H accuracy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88136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39327" y="25603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649224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locked_hamiltonian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6590"/>
            <a:ext cx="6492240" cy="259325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14032" y="1426464"/>
            <a:ext cx="1490472" cy="713232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517904"/>
            <a:ext cx="1271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D96000"/>
                </a:solidFill>
                <a:latin typeface="Cambria"/>
              </a:rPr>
              <a:t>0.417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874519"/>
            <a:ext cx="12710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DIRECT FULL-H MAE (meV)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14032" y="2350008"/>
            <a:ext cx="1490472" cy="713232"/>
          </a:xfrm>
          <a:prstGeom prst="roundRect">
            <a:avLst>
              <a:gd name="adj" fmla="val 8000"/>
            </a:avLst>
          </a:prstGeom>
          <a:solidFill>
            <a:srgbClr val="E7F2F8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441448"/>
            <a:ext cx="1271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77FB5"/>
                </a:solidFill>
                <a:latin typeface="Cambria"/>
              </a:rPr>
              <a:t>0.487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798063"/>
            <a:ext cx="12710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FIXED-LR SR MAE (meV)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14032" y="3273552"/>
            <a:ext cx="1490472" cy="713232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364992"/>
            <a:ext cx="1271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D8A66"/>
                </a:solidFill>
                <a:latin typeface="Cambria"/>
              </a:rPr>
              <a:t>0.485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721608"/>
            <a:ext cx="12710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5A6B7B"/>
                </a:solidFill>
                <a:latin typeface="Calibri"/>
              </a:rPr>
              <a:t>PREDICTED-LR SR MAE (meV)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420624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Full-H reconstruction identity: exact
Block coverage: 123,716 / 123,716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01184"/>
            <a:ext cx="5303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MACE-H-LR  ·  LEARNED RESPONSE RESULTS  ·  17 AUG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901184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7293"/>
                </a:solidFill>
                <a:latin typeface="Calibri"/>
              </a:rPr>
              <a:t>EPC OVERALL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2224A"/>
                </a:solidFill>
                <a:latin typeface="Cambria"/>
              </a:rPr>
              <a:t>SR still wins the response test; learned tensors are neutral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88136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39327" y="25603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6510528" cy="3346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epc_overall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7145"/>
            <a:ext cx="6510528" cy="26012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50608" y="1389888"/>
            <a:ext cx="1408176" cy="932688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0336" y="156362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DCE6F5"/>
                </a:solidFill>
                <a:latin typeface="Cambria"/>
              </a:rPr>
              <a:t>24.36%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0336" y="1956816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B9C6DE"/>
                </a:solidFill>
                <a:latin typeface="Calibri"/>
              </a:rPr>
              <a:t>fixed-LR SR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2514600"/>
            <a:ext cx="1408176" cy="932688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0336" y="268833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2D8A66"/>
                </a:solidFill>
                <a:latin typeface="Cambria"/>
              </a:rPr>
              <a:t>24.43%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0336" y="3081528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5A6B7B"/>
                </a:solidFill>
                <a:latin typeface="Calibri"/>
              </a:rPr>
              <a:t>predicted tensors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50608" y="3657600"/>
            <a:ext cx="1408176" cy="731520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0336" y="379476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D96000"/>
                </a:solidFill>
                <a:latin typeface="Cambria"/>
              </a:rPr>
              <a:t>91.93%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412394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direct Full-H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01184"/>
            <a:ext cx="5303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MACE-H-LR  ·  LEARNED RESPONSE RESULTS  ·  17 AUG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901184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7293"/>
                </a:solidFill>
                <a:latin typeface="Calibri"/>
              </a:rPr>
              <a:t>EPC BY 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2224A"/>
                </a:solidFill>
                <a:latin typeface="Cambria"/>
              </a:rPr>
              <a:t>The two SR curves overlap across the full 2×2×2 grid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88136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39327" y="25603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207008"/>
            <a:ext cx="8302752" cy="3456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epc_q_resol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374" y="1207007"/>
            <a:ext cx="4951539" cy="34564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4535424"/>
            <a:ext cx="7717536" cy="228600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590288"/>
            <a:ext cx="735177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Direct Full-H overestimates finite-q strength; predicted and fixed tensors are visually coincident.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01184"/>
            <a:ext cx="5303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MACE-H-LR  ·  LEARNED RESPONSE RESULTS  ·  17 AUG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4901184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7293"/>
                </a:solidFill>
                <a:latin typeface="Calibri"/>
              </a:rPr>
              <a:t>EPC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2224A"/>
                </a:solidFill>
                <a:latin typeface="Cambria"/>
              </a:rPr>
              <a:t>Predicted tensors preserve the SR response distribution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88136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39327" y="25603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25296"/>
            <a:ext cx="5559552" cy="3346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epc_dft_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9422"/>
            <a:ext cx="5559552" cy="18584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99632" y="1225296"/>
            <a:ext cx="2468880" cy="2496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epc_magnitud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42283"/>
            <a:ext cx="2468880" cy="14623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36208" y="3858768"/>
            <a:ext cx="2395728" cy="67665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968496"/>
            <a:ext cx="2066543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243447"/>
                </a:solidFill>
                <a:latin typeface="Calibri"/>
              </a:rPr>
              <a:t>The green and blue magnitude CDFs overlap. Both miss the same low-magnitude DFT structure, while direct Full-H broadens the response.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01184"/>
            <a:ext cx="5303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MACE-H-LR  ·  LEARNED RESPONSE RESULTS  ·  17 AUG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4901184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7293"/>
                </a:solidFill>
                <a:latin typeface="Calibri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2224A"/>
                </a:solidFill>
                <a:latin typeface="Cambria"/>
              </a:rPr>
              <a:t>Three statements are supported—and three are not yet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88136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39327" y="25603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25880"/>
            <a:ext cx="3886200" cy="3246120"/>
          </a:xfrm>
          <a:prstGeom prst="roundRect">
            <a:avLst>
              <a:gd name="adj" fmla="val 8000"/>
            </a:avLst>
          </a:prstGeom>
          <a:solidFill>
            <a:srgbClr val="E4F4EE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545336"/>
            <a:ext cx="914400" cy="25603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5448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SUPPORTED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02996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57400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020824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2224A"/>
                </a:solidFill>
                <a:latin typeface="Calibri"/>
              </a:rPr>
              <a:t>Tensor heads learn held-out response variation.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74320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770632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2734056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2224A"/>
                </a:solidFill>
                <a:latin typeface="Calibri"/>
              </a:rPr>
              <a:t>The composed SR + analytic-LR contract works exactly.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456432"/>
            <a:ext cx="256032" cy="25603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483864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447288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2224A"/>
                </a:solidFill>
                <a:latin typeface="Calibri"/>
              </a:rPr>
              <a:t>SR training produces a better EPC response than direct full-H on this grid.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1325880"/>
            <a:ext cx="3886200" cy="3246120"/>
          </a:xfrm>
          <a:prstGeom prst="roundRect">
            <a:avLst>
              <a:gd name="adj" fmla="val 8000"/>
            </a:avLst>
          </a:prstGeom>
          <a:solidFill>
            <a:srgbClr val="F8E3D2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10328" y="1545336"/>
            <a:ext cx="1216152" cy="25603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8" y="1554480"/>
            <a:ext cx="12161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NOT ESTABLISHED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28616" y="202996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28616" y="2057400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020824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2224A"/>
                </a:solidFill>
                <a:latin typeface="Calibri"/>
              </a:rPr>
              <a:t>Geometry-dependent tensors improve EPC.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28616" y="274320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28616" y="2770632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734056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2224A"/>
                </a:solidFill>
                <a:latin typeface="Calibri"/>
              </a:rPr>
              <a:t>Ten tensor-training structures generalize broadly.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28616" y="3456432"/>
            <a:ext cx="256032" cy="25603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28616" y="3483864"/>
            <a:ext cx="2560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447288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2224A"/>
                </a:solidFill>
                <a:latin typeface="Calibri"/>
              </a:rPr>
              <a:t>The present 2×2×2 grid resolves the small-q polar limit.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901184"/>
            <a:ext cx="5303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MACE-H-LR  ·  LEARNED RESPONSE RESULTS  ·  17 AUG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901184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9552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7293"/>
                </a:solidFill>
                <a:latin typeface="Calibri"/>
              </a:rPr>
              <a:t>NEXT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2224A"/>
                </a:solidFill>
                <a:latin typeface="Cambria"/>
              </a:rPr>
              <a:t>Increase sensitivity before increasing model complexity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88136"/>
            <a:ext cx="804672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39327" y="256032"/>
            <a:ext cx="2560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25880"/>
            <a:ext cx="3840480" cy="13075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904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490472"/>
            <a:ext cx="29077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2224A"/>
                </a:solidFill>
                <a:latin typeface="Cambria"/>
              </a:rPr>
              <a:t>Finite-difference ladder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847088"/>
            <a:ext cx="288950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Repeat EPC at 5×10⁻⁶, 10⁻⁴, 10⁻³, and 5×10⁻³ Å; separate numerical invisibility from physical neutrality.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325880"/>
            <a:ext cx="3840480" cy="13075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28032" y="14904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1536192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8384" y="1490472"/>
            <a:ext cx="29077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2224A"/>
                </a:solidFill>
                <a:latin typeface="Cambria"/>
              </a:rPr>
              <a:t>Tensor-label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1847088"/>
            <a:ext cx="288950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Add displacement families and amplitudes where predicted Z* and ε∞ vary most; keep train/validation families separated.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26080"/>
            <a:ext cx="3840480" cy="13075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0906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36392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090672"/>
            <a:ext cx="29077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2224A"/>
                </a:solidFill>
                <a:latin typeface="Cambria"/>
              </a:rPr>
              <a:t>Matched ablations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447288"/>
            <a:ext cx="288950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Same initialization and seed: SR-only, fixed tensors, learned frozen tensors, learned geometry-dependent tensors, direct Full-H.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926080"/>
            <a:ext cx="3840480" cy="1307592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016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28032" y="3090672"/>
            <a:ext cx="384048" cy="384048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3136392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3090672"/>
            <a:ext cx="29077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2224A"/>
                </a:solidFill>
                <a:latin typeface="Cambria"/>
              </a:rPr>
              <a:t>q-grid sensitivity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4" y="3447288"/>
            <a:ext cx="288950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7B"/>
                </a:solidFill>
                <a:latin typeface="Calibri"/>
              </a:rPr>
              <a:t>Move beyond 2×2×2 only after derivative and tensor effects are measurable; target the finite-q failure directly.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35424"/>
            <a:ext cx="7644383" cy="219456"/>
          </a:xfrm>
          <a:prstGeom prst="roundRect">
            <a:avLst>
              <a:gd name="adj" fmla="val 8000"/>
            </a:avLst>
          </a:prstGeom>
          <a:solidFill>
            <a:srgbClr val="12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90288"/>
            <a:ext cx="73152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FFFFFF"/>
                </a:solidFill>
                <a:latin typeface="Calibri"/>
              </a:rPr>
              <a:t>Decision gate: do not claim learned-tensor EPC benefit until C − B exceeds finite-difference uncertainty reproducibly.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01184"/>
            <a:ext cx="5303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MACE-H-LR  ·  LEARNED RESPONSE RESULTS  ·  17 AUG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901184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20" b="0" i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3035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What we see so far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2801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2D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35024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2224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71016"/>
            <a:ext cx="7086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CE6F5"/>
                </a:solidFill>
                <a:latin typeface="Calibri"/>
              </a:rPr>
              <a:t>The new Born and dielectric heads pass locked baselines and physical constraints.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20239"/>
            <a:ext cx="347472" cy="347472"/>
          </a:xfrm>
          <a:prstGeom prst="roundRect">
            <a:avLst>
              <a:gd name="adj" fmla="val 8000"/>
            </a:avLst>
          </a:prstGeom>
          <a:solidFill>
            <a:srgbClr val="D9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75103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2224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11095"/>
            <a:ext cx="7086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CE6F5"/>
                </a:solidFill>
                <a:latin typeface="Calibri"/>
              </a:rPr>
              <a:t>Reconstructed H is complete and stable, but direct Full-H remains better on matrix-element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6032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7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15184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2224A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51176"/>
            <a:ext cx="7086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CE6F5"/>
                </a:solidFill>
                <a:latin typeface="Calibri"/>
              </a:rPr>
              <a:t>Both SR pipelines remain far better than direct Full-H for Cartesian-AO EPC.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00399"/>
            <a:ext cx="347472" cy="347472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55263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2224A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91256"/>
            <a:ext cx="7086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CE6F5"/>
                </a:solidFill>
                <a:latin typeface="Calibri"/>
              </a:rPr>
              <a:t>At 5×10⁻⁶ Å, predicted geometry-dependent tensors are numerically indistinguishable from fixed tensors.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840479"/>
            <a:ext cx="347472" cy="347472"/>
          </a:xfrm>
          <a:prstGeom prst="roundRect">
            <a:avLst>
              <a:gd name="adj" fmla="val 8000"/>
            </a:avLst>
          </a:prstGeom>
          <a:solidFill>
            <a:srgbClr val="B9C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895343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2224A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31335"/>
            <a:ext cx="70866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next result should be a controlled sensitivity and data-coverage study—not a stronger claim.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08576"/>
            <a:ext cx="7726679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C39A"/>
                </a:solidFill>
                <a:latin typeface="Calibri"/>
              </a:rPr>
              <a:t>Questions · which sensitivity test should define the next compute campaign?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