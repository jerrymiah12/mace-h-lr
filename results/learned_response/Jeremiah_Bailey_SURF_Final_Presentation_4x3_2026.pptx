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0:00–0:35. Hello, my name is Jeremiah Bailey. This summer I worked in the</a:t>
            </a:r>
          </a:p>
          <a:p>
            <a:r>
              <a:t>Bernardi Group on a question at the intersection of materials physics and</a:t>
            </a:r>
          </a:p>
          <a:p>
            <a:r>
              <a:t>machine learning: can we teach a model not only the electronic state of a</a:t>
            </a:r>
          </a:p>
          <a:p>
            <a:r>
              <a:t>material, but also how that state changes when the atoms move? I will focus on</a:t>
            </a:r>
          </a:p>
          <a:p>
            <a:r>
              <a:t>magnesium oxide, a simple polar crystal that makes this challenge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0:35–1:35. Atoms in a solid are always moving. When they move, the electrons</a:t>
            </a:r>
          </a:p>
          <a:p>
            <a:r>
              <a:t>rearrange. That interaction affects resistance, energy relaxation, heat, and</a:t>
            </a:r>
          </a:p>
          <a:p>
            <a:r>
              <a:t>optical behavior. Quantum-mechanical calculations can describe it accurately,</a:t>
            </a:r>
          </a:p>
          <a:p>
            <a:r>
              <a:t>but repeating those calculations for every possible atomic motion is costly.</a:t>
            </a:r>
          </a:p>
          <a:p>
            <a:r>
              <a:t>The opportunity is to learn this response from examples while keeping the</a:t>
            </a:r>
          </a:p>
          <a:p>
            <a:r>
              <a:t>relevant physics in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1:35–2:05. I will first define the quantities in plain language. Then I will</a:t>
            </a:r>
          </a:p>
          <a:p>
            <a:r>
              <a:t>explain why polar magnesium oxide needs special treatment, show the model and</a:t>
            </a:r>
          </a:p>
          <a:p>
            <a:r>
              <a:t>training protocol I built, and finish with what the data support so far and</a:t>
            </a:r>
          </a:p>
          <a:p>
            <a:r>
              <a:t>what experiment should come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2:05–3:20. DFT is my physics-based reference: accurate, but expensive for</a:t>
            </a:r>
          </a:p>
          <a:p>
            <a:r>
              <a:t>large numbers of structures. The Hamiltonian is a compact matrix that acts</a:t>
            </a:r>
          </a:p>
          <a:p>
            <a:r>
              <a:t>like an electronic rulebook. Machine learning can predict that matrix from</a:t>
            </a:r>
          </a:p>
          <a:p>
            <a:r>
              <a:t>atomic positions. Electron–phonon coupling is more demanding: it is the slope</a:t>
            </a:r>
          </a:p>
          <a:p>
            <a:r>
              <a:t>of that prediction when an atom moves. A model can match many values and still</a:t>
            </a:r>
          </a:p>
          <a:p>
            <a:r>
              <a:t>learn the wrong slope between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3:20–4:25. Magnesium and oxygen carry opposite ionic character. Moving one</a:t>
            </a:r>
          </a:p>
          <a:p>
            <a:r>
              <a:t>atom creates an electric response that is not purely local. I compare four</a:t>
            </a:r>
          </a:p>
          <a:p>
            <a:r>
              <a:t>things: the DFT reference, a model trained directly on the complete</a:t>
            </a:r>
          </a:p>
          <a:p>
            <a:r>
              <a:t>Hamiltonian, a short-range model corrected with fixed reference physics, and</a:t>
            </a:r>
          </a:p>
          <a:p>
            <a:r>
              <a:t>my new model whose effective charges and electronic screening are predicted</a:t>
            </a:r>
          </a:p>
          <a:p>
            <a:r>
              <a:t>from the current geometry.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4:25–5:25. I built one shared equivariant encoder, meaning its outputs transform</a:t>
            </a:r>
          </a:p>
          <a:p>
            <a:r>
              <a:t>correctly when the crystal is rotated. It feeds three predictions: the local</a:t>
            </a:r>
          </a:p>
          <a:p>
            <a:r>
              <a:t>Hamiltonian, an effective charge for every atom, and one screening tensor for</a:t>
            </a:r>
          </a:p>
          <a:p>
            <a:r>
              <a:t>the structure. Those pieces are combined with an analytic long-range formula.</a:t>
            </a:r>
          </a:p>
          <a:p>
            <a:r>
              <a:t>The model enforces overall charge balance and positive screening by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5:25–6:20. Hamiltonians are large, so the model retained all 367 short-range</a:t>
            </a:r>
          </a:p>
          <a:p>
            <a:r>
              <a:t>training and validation structures. The response tensors are expensive DFT</a:t>
            </a:r>
          </a:p>
          <a:p>
            <a:r>
              <a:t>labels: ten trained the heads, two guided wiring and stability, and five were</a:t>
            </a:r>
          </a:p>
          <a:p>
            <a:r>
              <a:t>locked. I opened those five only after freezing the architecture, learning</a:t>
            </a:r>
          </a:p>
          <a:p>
            <a:r>
              <a:t>rates, and checkpoint. The accepted model had to pass all three validation</a:t>
            </a:r>
          </a:p>
          <a:p>
            <a:r>
              <a:t>gates ten times in a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6:20–7:15. The left panel gives the longer training context. The center asks</a:t>
            </a:r>
          </a:p>
          <a:p>
            <a:r>
              <a:t>whether adding new tasks damages the original short-range Hamiltonian; it</a:t>
            </a:r>
          </a:p>
          <a:p>
            <a:r>
              <a:t>stays below the dashed limit. The right asks whether the charge and screening</a:t>
            </a:r>
          </a:p>
          <a:p>
            <a:r>
              <a:t>heads beat simple baselines; both stay below one. After ten consecutive passes,</a:t>
            </a:r>
          </a:p>
          <a:p>
            <a:r>
              <a:t>training stopped and I froze the checkpoint.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7:15–8:15. This is the first success criterion. On structures never used for</a:t>
            </a:r>
          </a:p>
          <a:p>
            <a:r>
              <a:t>training or selection, the learned effective charges reduce mean absolute</a:t>
            </a:r>
          </a:p>
          <a:p>
            <a:r>
              <a:t>error by about 26 percent compared with always predicting the training mean.</a:t>
            </a:r>
          </a:p>
          <a:p>
            <a:r>
              <a:t>Screening error drops by about 73 percent. The outputs also satisfy the</a:t>
            </a:r>
          </a:p>
          <a:p>
            <a:r>
              <a:t>physical constraints. This shows learned geometry-dependent signal, while the</a:t>
            </a:r>
          </a:p>
          <a:p>
            <a:r>
              <a:t>small test set keeps the claim at prototype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8:15–9:15. Next I compare matrix values on those same five structures. Zero is</a:t>
            </a:r>
          </a:p>
          <a:p>
            <a:r>
              <a:t>the DFT reference. Direct full-H has the smallest mean error at 0.417</a:t>
            </a:r>
          </a:p>
          <a:p>
            <a:r>
              <a:t>millielectron-volts. The fixed-physics SR result is 0.487, and learned tensors</a:t>
            </a:r>
          </a:p>
          <a:p>
            <a:r>
              <a:t>slightly improve it to 0.485. So the composed model is complete and stable,</a:t>
            </a:r>
          </a:p>
          <a:p>
            <a:r>
              <a:t>but the tensor heads do not close the value-accuracy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9:15–10:20. The ranking reverses for the response. Here lower is again better.</a:t>
            </a:r>
          </a:p>
          <a:p>
            <a:r>
              <a:t>Direct full-H has about 92 percent relative error, while both short-range</a:t>
            </a:r>
          </a:p>
          <a:p>
            <a:r>
              <a:t>pipelines are near 24 percent. This is the central lesson: a model can predict</a:t>
            </a:r>
          </a:p>
          <a:p>
            <a:r>
              <a:t>Hamiltonian values well and still learn the wrong slope. Physics-guided target</a:t>
            </a:r>
          </a:p>
          <a:p>
            <a:r>
              <a:t>design improves the derivative observable even when it does not win on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10:20–11:25. q is simply a label for a vibration's wavelength and direction.</a:t>
            </a:r>
          </a:p>
          <a:p>
            <a:r>
              <a:t>The top panel shows coupling strength; the bottom shows error against DFT. At</a:t>
            </a:r>
          </a:p>
          <a:p>
            <a:r>
              <a:t>q equals zero, all models are much closer. Away from zero, direct full-H</a:t>
            </a:r>
          </a:p>
          <a:p>
            <a:r>
              <a:t>becomes too strong. The blue fixed-tensor and green learned-tensor curves</a:t>
            </a:r>
          </a:p>
          <a:p>
            <a:r>
              <a:t>overlap across this grid, which leads to the final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11:25–12:30. The heads work as predictors, and the composed reconstruction is</a:t>
            </a:r>
          </a:p>
          <a:p>
            <a:r>
              <a:t>correct. But the learned geometry dependence changes EPC by only about four</a:t>
            </a:r>
          </a:p>
          <a:p>
            <a:r>
              <a:t>times ten to the minus ten electron-volts per ångström on average at this</a:t>
            </a:r>
          </a:p>
          <a:p>
            <a:r>
              <a:t>finite-difference step. That does not prove the tensors are physically</a:t>
            </a:r>
          </a:p>
          <a:p>
            <a:r>
              <a:t>irrelevant. It means this experiment cannot yet separate their effect from</a:t>
            </a:r>
          </a:p>
          <a:p>
            <a:r>
              <a:t>near-neutrality. The dataset and q grid also limit the scope of the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12:30–13:35. My first next step would be a displacement-sensitivity ladder,</a:t>
            </a:r>
          </a:p>
          <a:p>
            <a:r>
              <a:t>because the current five-microångström step may make geometry-dependent tensor</a:t>
            </a:r>
          </a:p>
          <a:p>
            <a:r>
              <a:t>changes invisible. Then I would add response-diverse labels and repeat matched</a:t>
            </a:r>
          </a:p>
          <a:p>
            <a:r>
              <a:t>ablations with the same initialization. A denser q grid is valuable, but only</a:t>
            </a:r>
          </a:p>
          <a:p>
            <a:r>
              <a:t>after the tensor contribution is measurable independently of numerical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13:35–14:35. In summary, I built the intended three-output architecture and</a:t>
            </a:r>
          </a:p>
          <a:p>
            <a:r>
              <a:t>verified it on locked data. The response heads learn real signal. Direct</a:t>
            </a:r>
          </a:p>
          <a:p>
            <a:r>
              <a:t>full-H remains best for matrix values, but target design around short-range</a:t>
            </a:r>
          </a:p>
          <a:p>
            <a:r>
              <a:t>physics produces far better atomic-motion response. Learned tensors have not</a:t>
            </a:r>
          </a:p>
          <a:p>
            <a:r>
              <a:t>yet improved EPC at this sensitivity. Thank Prof. Marco Benardi, my graduate</a:t>
            </a:r>
          </a:p>
          <a:p>
            <a:r>
              <a:t>mentor Yao Luo, and WAVE at Caltech for their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14:35–15:00. Thank the audience and invite questions. Leave this final slide</a:t>
            </a:r>
          </a:p>
          <a:p>
            <a:r>
              <a:t>displayed throughout the 2–3 minute Q&amp;A so the QR code remains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76656" y="621792"/>
            <a:ext cx="1755648" cy="256032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630936"/>
            <a:ext cx="17556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12224A"/>
                </a:solidFill>
                <a:latin typeface="Calibri"/>
              </a:rPr>
              <a:t>SURF FINAL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98448"/>
            <a:ext cx="7863840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FFFFF"/>
                </a:solidFill>
                <a:latin typeface="Cambria"/>
              </a:rPr>
              <a:t>Teaching machines how atoms
and electrons move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788920"/>
            <a:ext cx="7589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DCE6F5"/>
                </a:solidFill>
                <a:latin typeface="Cambria"/>
              </a:rPr>
              <a:t>A physics-guided machine-learning model for polar materials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94944" y="3575304"/>
            <a:ext cx="7461504" cy="0"/>
          </a:xfrm>
          <a:prstGeom prst="line">
            <a:avLst/>
          </a:prstGeom>
          <a:ln w="127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94944" y="3968496"/>
            <a:ext cx="74980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Cambria"/>
              </a:rPr>
              <a:t>Jeremiah Bailey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4480560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9C6DE"/>
                </a:solidFill>
                <a:latin typeface="Calibri"/>
              </a:rPr>
              <a:t>Bernardi Group · California Institute of 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4873752"/>
            <a:ext cx="74980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2C39A"/>
                </a:solidFill>
                <a:latin typeface="Calibri"/>
              </a:rPr>
              <a:t>SURF 2026</a:t>
            </a:r>
          </a:p>
        </p:txBody>
      </p:sp>
      <p:pic>
        <p:nvPicPr>
          <p:cNvPr id="11" name="Picture 10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8916" y="5166360"/>
            <a:ext cx="768096" cy="7680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46888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C7293"/>
                </a:solidFill>
                <a:latin typeface="Calibri"/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8065008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2224A"/>
                </a:solidFill>
                <a:latin typeface="Cambria"/>
              </a:rPr>
              <a:t>Atoms vibrate—and electrons must respond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34440"/>
            <a:ext cx="8083296" cy="0"/>
          </a:xfrm>
          <a:prstGeom prst="line">
            <a:avLst/>
          </a:prstGeom>
          <a:ln w="1143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21040" y="274320"/>
            <a:ext cx="2743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A6B7B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44752"/>
            <a:ext cx="3803904" cy="4443984"/>
          </a:xfrm>
          <a:prstGeom prst="roundRect">
            <a:avLst>
              <a:gd name="adj" fmla="val 8000"/>
            </a:avLst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46504"/>
            <a:ext cx="3200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Cambria"/>
              </a:rPr>
              <a:t>A crystal is not static</a:t>
            </a:r>
          </a:p>
        </p:txBody>
      </p:sp>
      <p:sp>
        <p:nvSpPr>
          <p:cNvPr id="8" name="Oval 7"/>
          <p:cNvSpPr/>
          <p:nvPr/>
        </p:nvSpPr>
        <p:spPr>
          <a:xfrm>
            <a:off x="1124712" y="2468880"/>
            <a:ext cx="402336" cy="402336"/>
          </a:xfrm>
          <a:prstGeom prst="ellipse">
            <a:avLst/>
          </a:prstGeom>
          <a:solidFill>
            <a:srgbClr val="D96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2581534"/>
            <a:ext cx="402336" cy="120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527048" y="2670048"/>
            <a:ext cx="530352" cy="0"/>
          </a:xfrm>
          <a:prstGeom prst="line">
            <a:avLst/>
          </a:prstGeom>
          <a:ln w="15240">
            <a:solidFill>
              <a:srgbClr val="B9C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25880" y="2871216"/>
            <a:ext cx="0" cy="393192"/>
          </a:xfrm>
          <a:prstGeom prst="line">
            <a:avLst/>
          </a:prstGeom>
          <a:ln w="15240">
            <a:solidFill>
              <a:srgbClr val="B9C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057400" y="2468880"/>
            <a:ext cx="402336" cy="402336"/>
          </a:xfrm>
          <a:prstGeom prst="ellipse">
            <a:avLst/>
          </a:prstGeom>
          <a:solidFill>
            <a:srgbClr val="177FB5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2581534"/>
            <a:ext cx="402336" cy="120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59736" y="2670048"/>
            <a:ext cx="530352" cy="0"/>
          </a:xfrm>
          <a:prstGeom prst="line">
            <a:avLst/>
          </a:prstGeom>
          <a:ln w="15240">
            <a:solidFill>
              <a:srgbClr val="B9C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258568" y="2871216"/>
            <a:ext cx="0" cy="393192"/>
          </a:xfrm>
          <a:prstGeom prst="line">
            <a:avLst/>
          </a:prstGeom>
          <a:ln w="15240">
            <a:solidFill>
              <a:srgbClr val="B9C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990088" y="2468880"/>
            <a:ext cx="402336" cy="402336"/>
          </a:xfrm>
          <a:prstGeom prst="ellipse">
            <a:avLst/>
          </a:prstGeom>
          <a:solidFill>
            <a:srgbClr val="D96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0088" y="2581534"/>
            <a:ext cx="402336" cy="120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191256" y="2871216"/>
            <a:ext cx="0" cy="393192"/>
          </a:xfrm>
          <a:prstGeom prst="line">
            <a:avLst/>
          </a:prstGeom>
          <a:ln w="15240">
            <a:solidFill>
              <a:srgbClr val="B9C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124712" y="3264408"/>
            <a:ext cx="402336" cy="402336"/>
          </a:xfrm>
          <a:prstGeom prst="ellipse">
            <a:avLst/>
          </a:prstGeom>
          <a:solidFill>
            <a:srgbClr val="177FB5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" y="3377062"/>
            <a:ext cx="402336" cy="120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27048" y="3465576"/>
            <a:ext cx="530352" cy="0"/>
          </a:xfrm>
          <a:prstGeom prst="line">
            <a:avLst/>
          </a:prstGeom>
          <a:ln w="15240">
            <a:solidFill>
              <a:srgbClr val="B9C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325880" y="3666744"/>
            <a:ext cx="0" cy="393192"/>
          </a:xfrm>
          <a:prstGeom prst="line">
            <a:avLst/>
          </a:prstGeom>
          <a:ln w="15240">
            <a:solidFill>
              <a:srgbClr val="B9C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2057400" y="3264408"/>
            <a:ext cx="402336" cy="402336"/>
          </a:xfrm>
          <a:prstGeom prst="ellipse">
            <a:avLst/>
          </a:prstGeom>
          <a:solidFill>
            <a:srgbClr val="D96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57400" y="3377062"/>
            <a:ext cx="402336" cy="120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459736" y="3465576"/>
            <a:ext cx="530352" cy="0"/>
          </a:xfrm>
          <a:prstGeom prst="line">
            <a:avLst/>
          </a:prstGeom>
          <a:ln w="15240">
            <a:solidFill>
              <a:srgbClr val="B9C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258568" y="3666744"/>
            <a:ext cx="0" cy="393192"/>
          </a:xfrm>
          <a:prstGeom prst="line">
            <a:avLst/>
          </a:prstGeom>
          <a:ln w="15240">
            <a:solidFill>
              <a:srgbClr val="B9C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990088" y="3264408"/>
            <a:ext cx="402336" cy="402336"/>
          </a:xfrm>
          <a:prstGeom prst="ellipse">
            <a:avLst/>
          </a:prstGeom>
          <a:solidFill>
            <a:srgbClr val="177FB5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90088" y="3377062"/>
            <a:ext cx="402336" cy="120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191256" y="3666744"/>
            <a:ext cx="0" cy="393192"/>
          </a:xfrm>
          <a:prstGeom prst="line">
            <a:avLst/>
          </a:prstGeom>
          <a:ln w="15240">
            <a:solidFill>
              <a:srgbClr val="B9C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124712" y="4059936"/>
            <a:ext cx="402336" cy="402336"/>
          </a:xfrm>
          <a:prstGeom prst="ellipse">
            <a:avLst/>
          </a:prstGeom>
          <a:solidFill>
            <a:srgbClr val="D96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24712" y="4172590"/>
            <a:ext cx="402336" cy="120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527048" y="4261104"/>
            <a:ext cx="530352" cy="0"/>
          </a:xfrm>
          <a:prstGeom prst="line">
            <a:avLst/>
          </a:prstGeom>
          <a:ln w="15240">
            <a:solidFill>
              <a:srgbClr val="B9C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2057400" y="4059936"/>
            <a:ext cx="402336" cy="402336"/>
          </a:xfrm>
          <a:prstGeom prst="ellipse">
            <a:avLst/>
          </a:prstGeom>
          <a:solidFill>
            <a:srgbClr val="177FB5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57400" y="4172590"/>
            <a:ext cx="402336" cy="120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459736" y="4261104"/>
            <a:ext cx="530352" cy="0"/>
          </a:xfrm>
          <a:prstGeom prst="line">
            <a:avLst/>
          </a:prstGeom>
          <a:ln w="15240">
            <a:solidFill>
              <a:srgbClr val="B9C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2990088" y="4059936"/>
            <a:ext cx="402336" cy="402336"/>
          </a:xfrm>
          <a:prstGeom prst="ellipse">
            <a:avLst/>
          </a:prstGeom>
          <a:solidFill>
            <a:srgbClr val="D96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90088" y="4172590"/>
            <a:ext cx="402336" cy="120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047488"/>
            <a:ext cx="13716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2C39A"/>
                </a:solidFill>
                <a:latin typeface="Calibri"/>
              </a:rPr>
              <a:t>atomic vibration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194560" y="5166360"/>
            <a:ext cx="960120" cy="0"/>
          </a:xfrm>
          <a:prstGeom prst="line">
            <a:avLst/>
          </a:prstGeom>
          <a:ln w="29209">
            <a:solidFill>
              <a:srgbClr val="02C3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Isosceles Triangle 39"/>
          <p:cNvSpPr/>
          <p:nvPr/>
        </p:nvSpPr>
        <p:spPr>
          <a:xfrm rot="5400000">
            <a:off x="3081528" y="5106924"/>
            <a:ext cx="118872" cy="118872"/>
          </a:xfrm>
          <a:prstGeom prst="triangl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88920" y="5047488"/>
            <a:ext cx="12801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02C39A"/>
                </a:solidFill>
                <a:latin typeface="Calibri"/>
              </a:rPr>
              <a:t>electronic response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91456" y="1591056"/>
            <a:ext cx="37124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2224A"/>
                </a:solidFill>
                <a:latin typeface="Cambria"/>
              </a:rPr>
              <a:t>This interaction helps determine: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91456" y="221284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D9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91456" y="2267712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94960" y="2203704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2224A"/>
                </a:solidFill>
                <a:latin typeface="Calibri"/>
              </a:rPr>
              <a:t>How electrical energy is lost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94960" y="2569464"/>
            <a:ext cx="298094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A6B7B"/>
                </a:solidFill>
                <a:latin typeface="Calibri"/>
              </a:rPr>
              <a:t>resistance and heat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791456" y="3291839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7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91456" y="3346703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94960" y="3282696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2224A"/>
                </a:solidFill>
                <a:latin typeface="Calibri"/>
              </a:rPr>
              <a:t>How carriers exchange energy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94960" y="3648456"/>
            <a:ext cx="298094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A6B7B"/>
                </a:solidFill>
                <a:latin typeface="Calibri"/>
              </a:rPr>
              <a:t>relaxation and transport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791456" y="4370831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D8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91456" y="4425695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94960" y="4361688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2224A"/>
                </a:solidFill>
                <a:latin typeface="Calibri"/>
              </a:rPr>
              <a:t>How materials respond to light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94960" y="4727447"/>
            <a:ext cx="298094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A6B7B"/>
                </a:solidFill>
                <a:latin typeface="Calibri"/>
              </a:rPr>
              <a:t>optical and polar behavior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791456" y="5559552"/>
            <a:ext cx="3675887" cy="43891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01768" y="5660136"/>
            <a:ext cx="32552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9" b="1" i="0">
                <a:solidFill>
                  <a:srgbClr val="12224A"/>
                </a:solidFill>
                <a:latin typeface="Calibri"/>
              </a:rPr>
              <a:t>Goal: predict the response without repeating an expensive quantum calculation for every motion.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0352" y="6583680"/>
            <a:ext cx="5257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5A6B7B"/>
                </a:solidFill>
                <a:latin typeface="Calibri"/>
              </a:rPr>
              <a:t>JEREMIAH BAILEY  ·  SURF 2026  ·  BERNARDI GROUP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02752" y="6583680"/>
            <a:ext cx="2926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40" b="0" i="0">
                <a:solidFill>
                  <a:srgbClr val="5A6B7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46888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C7293"/>
                </a:solidFill>
                <a:latin typeface="Calibr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8065008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2224A"/>
                </a:solidFill>
                <a:latin typeface="Cambria"/>
              </a:rPr>
              <a:t>Four questions guide the talk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34440"/>
            <a:ext cx="8083296" cy="0"/>
          </a:xfrm>
          <a:prstGeom prst="line">
            <a:avLst/>
          </a:prstGeom>
          <a:ln w="1143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21040" y="274320"/>
            <a:ext cx="2743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A6B7B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527048"/>
            <a:ext cx="475488" cy="475488"/>
          </a:xfrm>
          <a:prstGeom prst="roundRect">
            <a:avLst>
              <a:gd name="adj" fmla="val 8000"/>
            </a:avLst>
          </a:prstGeom>
          <a:solidFill>
            <a:srgbClr val="17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00200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51790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2224A"/>
                </a:solidFill>
                <a:latin typeface="Cambria"/>
              </a:rPr>
              <a:t>What are we predicting?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499616"/>
            <a:ext cx="3886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B7B"/>
                </a:solidFill>
                <a:latin typeface="Calibri"/>
              </a:rPr>
              <a:t>A compact electronic description and how it changes when atoms move.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87552" y="2020824"/>
            <a:ext cx="0" cy="576072"/>
          </a:xfrm>
          <a:prstGeom prst="line">
            <a:avLst/>
          </a:prstGeom>
          <a:ln w="254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9808" y="2688336"/>
            <a:ext cx="475488" cy="475488"/>
          </a:xfrm>
          <a:prstGeom prst="roundRect">
            <a:avLst>
              <a:gd name="adj" fmla="val 8000"/>
            </a:avLst>
          </a:prstGeom>
          <a:solidFill>
            <a:srgbClr val="D9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761488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267919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2224A"/>
                </a:solidFill>
                <a:latin typeface="Cambria"/>
              </a:rPr>
              <a:t>Why is magnesium oxide hard?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660904"/>
            <a:ext cx="3886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B7B"/>
                </a:solidFill>
                <a:latin typeface="Calibri"/>
              </a:rPr>
              <a:t>Its positive and negative ions create a long-range electric response.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87552" y="3182112"/>
            <a:ext cx="0" cy="576071"/>
          </a:xfrm>
          <a:prstGeom prst="line">
            <a:avLst/>
          </a:prstGeom>
          <a:ln w="254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9808" y="3849624"/>
            <a:ext cx="475488" cy="475488"/>
          </a:xfrm>
          <a:prstGeom prst="roundRect">
            <a:avLst>
              <a:gd name="adj" fmla="val 8000"/>
            </a:avLst>
          </a:prstGeom>
          <a:solidFill>
            <a:srgbClr val="2D8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922776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84048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2224A"/>
                </a:solidFill>
                <a:latin typeface="Cambria"/>
              </a:rPr>
              <a:t>What did I build and test?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822191"/>
            <a:ext cx="3886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B7B"/>
                </a:solidFill>
                <a:latin typeface="Calibri"/>
              </a:rPr>
              <a:t>A shared model with learned charge and screening outputs.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87552" y="4343400"/>
            <a:ext cx="0" cy="576072"/>
          </a:xfrm>
          <a:prstGeom prst="line">
            <a:avLst/>
          </a:prstGeom>
          <a:ln w="254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9808" y="5010912"/>
            <a:ext cx="475488" cy="475488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5084064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500176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2224A"/>
                </a:solidFill>
                <a:latin typeface="Cambria"/>
              </a:rPr>
              <a:t>What do the results say?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983480"/>
            <a:ext cx="3886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B7B"/>
                </a:solidFill>
                <a:latin typeface="Calibri"/>
              </a:rPr>
              <a:t>The new outputs learn real signal, but have not changed the final response yet.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6583680"/>
            <a:ext cx="5257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5A6B7B"/>
                </a:solidFill>
                <a:latin typeface="Calibri"/>
              </a:rPr>
              <a:t>JEREMIAH BAILEY  ·  SURF 2026  ·  BERNARDI GROUP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6583680"/>
            <a:ext cx="2926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40" b="0" i="0">
                <a:solidFill>
                  <a:srgbClr val="5A6B7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46888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C7293"/>
                </a:solidFill>
                <a:latin typeface="Calibri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8065008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2224A"/>
                </a:solidFill>
                <a:latin typeface="Cambria"/>
              </a:rPr>
              <a:t>Three ideas connect structure to response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34440"/>
            <a:ext cx="8083296" cy="0"/>
          </a:xfrm>
          <a:prstGeom prst="line">
            <a:avLst/>
          </a:prstGeom>
          <a:ln w="1143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21040" y="274320"/>
            <a:ext cx="2743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A6B7B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2432304" cy="41605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402336" cy="402336"/>
          </a:xfrm>
          <a:prstGeom prst="roundRect">
            <a:avLst>
              <a:gd name="adj" fmla="val 8000"/>
            </a:avLst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47088"/>
            <a:ext cx="40233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395728"/>
            <a:ext cx="20299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12224A"/>
                </a:solidFill>
                <a:latin typeface="Cambria"/>
              </a:rPr>
              <a:t>DFT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944368"/>
            <a:ext cx="20299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12224A"/>
                </a:solidFill>
                <a:latin typeface="Calibri"/>
              </a:rPr>
              <a:t>PHYSICS-BASED REFERENCE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419856"/>
            <a:ext cx="1883664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20" b="0" i="0">
                <a:solidFill>
                  <a:srgbClr val="5A6B7B"/>
                </a:solidFill>
                <a:latin typeface="Calibri"/>
              </a:rPr>
              <a:t>Solves an approximate quantum-mechanical problem for one atomic structure.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4882896"/>
            <a:ext cx="16093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2224A"/>
                </a:solidFill>
                <a:latin typeface="Calibri"/>
              </a:rPr>
              <a:t>accurate · expensive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64408" y="1554480"/>
            <a:ext cx="2432304" cy="41605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47288" y="1783080"/>
            <a:ext cx="402336" cy="402336"/>
          </a:xfrm>
          <a:prstGeom prst="roundRect">
            <a:avLst>
              <a:gd name="adj" fmla="val 8000"/>
            </a:avLst>
          </a:prstGeom>
          <a:solidFill>
            <a:srgbClr val="17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1847088"/>
            <a:ext cx="40233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5576" y="2395728"/>
            <a:ext cx="20299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12224A"/>
                </a:solidFill>
                <a:latin typeface="Cambria"/>
              </a:rPr>
              <a:t>Hamiltonian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5576" y="2944368"/>
            <a:ext cx="20299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177FB5"/>
                </a:solidFill>
                <a:latin typeface="Calibri"/>
              </a:rPr>
              <a:t>ELECTRONIC RULEBOOK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7" y="3419856"/>
            <a:ext cx="1883664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20" b="0" i="0">
                <a:solidFill>
                  <a:srgbClr val="5A6B7B"/>
                </a:solidFill>
                <a:latin typeface="Calibri"/>
              </a:rPr>
              <a:t>A matrix that summarizes the energies and interactions available to electrons.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59935" y="4709160"/>
            <a:ext cx="164592" cy="137160"/>
          </a:xfrm>
          <a:prstGeom prst="roundRect">
            <a:avLst>
              <a:gd name="adj" fmla="val 8000"/>
            </a:avLst>
          </a:prstGeom>
          <a:solidFill>
            <a:srgbClr val="17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15968" y="4709160"/>
            <a:ext cx="164592" cy="137160"/>
          </a:xfrm>
          <a:prstGeom prst="roundRect">
            <a:avLst>
              <a:gd name="adj" fmla="val 8000"/>
            </a:avLst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0" y="4709160"/>
            <a:ext cx="164592" cy="137160"/>
          </a:xfrm>
          <a:prstGeom prst="roundRect">
            <a:avLst>
              <a:gd name="adj" fmla="val 8000"/>
            </a:avLst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059935" y="4937760"/>
            <a:ext cx="164592" cy="137160"/>
          </a:xfrm>
          <a:prstGeom prst="roundRect">
            <a:avLst>
              <a:gd name="adj" fmla="val 8000"/>
            </a:avLst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15968" y="4937760"/>
            <a:ext cx="164592" cy="137160"/>
          </a:xfrm>
          <a:prstGeom prst="roundRect">
            <a:avLst>
              <a:gd name="adj" fmla="val 8000"/>
            </a:avLst>
          </a:prstGeom>
          <a:solidFill>
            <a:srgbClr val="17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0" y="4937760"/>
            <a:ext cx="164592" cy="137160"/>
          </a:xfrm>
          <a:prstGeom prst="roundRect">
            <a:avLst>
              <a:gd name="adj" fmla="val 8000"/>
            </a:avLst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059935" y="5166360"/>
            <a:ext cx="164592" cy="137160"/>
          </a:xfrm>
          <a:prstGeom prst="roundRect">
            <a:avLst>
              <a:gd name="adj" fmla="val 8000"/>
            </a:avLst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15968" y="5166360"/>
            <a:ext cx="164592" cy="137160"/>
          </a:xfrm>
          <a:prstGeom prst="roundRect">
            <a:avLst>
              <a:gd name="adj" fmla="val 8000"/>
            </a:avLst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0" y="5166360"/>
            <a:ext cx="164592" cy="137160"/>
          </a:xfrm>
          <a:prstGeom prst="roundRect">
            <a:avLst>
              <a:gd name="adj" fmla="val 8000"/>
            </a:avLst>
          </a:prstGeom>
          <a:solidFill>
            <a:srgbClr val="17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61888" y="1554480"/>
            <a:ext cx="2432304" cy="41605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44768" y="1783080"/>
            <a:ext cx="402336" cy="402336"/>
          </a:xfrm>
          <a:prstGeom prst="roundRect">
            <a:avLst>
              <a:gd name="adj" fmla="val 8000"/>
            </a:avLst>
          </a:prstGeom>
          <a:solidFill>
            <a:srgbClr val="D9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44768" y="1847088"/>
            <a:ext cx="40233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63055" y="2395728"/>
            <a:ext cx="20299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12224A"/>
                </a:solidFill>
                <a:latin typeface="Cambria"/>
              </a:rPr>
              <a:t>Electron–phonon coupling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63055" y="2944368"/>
            <a:ext cx="20299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D96000"/>
                </a:solidFill>
                <a:latin typeface="Calibri"/>
              </a:rPr>
              <a:t>THE LOCAL SLOPE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6207" y="3419856"/>
            <a:ext cx="1883664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20" b="0" i="0">
                <a:solidFill>
                  <a:srgbClr val="5A6B7B"/>
                </a:solidFill>
                <a:latin typeface="Calibri"/>
              </a:rPr>
              <a:t>Measures how the Hamiltonian changes when atoms are displaced.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7375" y="4700016"/>
            <a:ext cx="148132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D96000"/>
                </a:solidFill>
                <a:latin typeface="Calibri"/>
              </a:rPr>
              <a:t>change in electrons
──────────────
change in atoms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6" y="5961888"/>
            <a:ext cx="7242048" cy="347472"/>
          </a:xfrm>
          <a:prstGeom prst="roundRect">
            <a:avLst>
              <a:gd name="adj" fmla="val 8000"/>
            </a:avLst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70432" y="6044184"/>
            <a:ext cx="68031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 i="0">
                <a:solidFill>
                  <a:srgbClr val="FFFFFF"/>
                </a:solidFill>
                <a:latin typeface="Calibri"/>
              </a:rPr>
              <a:t>Machine learning approximates the electronic rulebook; the response tests whether it learned the right behavior between examples.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6583680"/>
            <a:ext cx="5257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5A6B7B"/>
                </a:solidFill>
                <a:latin typeface="Calibri"/>
              </a:rPr>
              <a:t>JEREMIAH BAILEY  ·  SURF 2026  ·  BERNARDI GROUP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2752" y="6583680"/>
            <a:ext cx="2926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40" b="0" i="0">
                <a:solidFill>
                  <a:srgbClr val="5A6B7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46888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C7293"/>
                </a:solidFill>
                <a:latin typeface="Calibri"/>
              </a:rP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8065008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2224A"/>
                </a:solidFill>
                <a:latin typeface="Cambria"/>
              </a:rPr>
              <a:t>Polar crystals communicate over long distances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34440"/>
            <a:ext cx="8083296" cy="0"/>
          </a:xfrm>
          <a:prstGeom prst="line">
            <a:avLst/>
          </a:prstGeom>
          <a:ln w="1143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21040" y="274320"/>
            <a:ext cx="2743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A6B7B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2880360" cy="4526280"/>
          </a:xfrm>
          <a:prstGeom prst="roundRect">
            <a:avLst>
              <a:gd name="adj" fmla="val 8000"/>
            </a:avLst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764792"/>
            <a:ext cx="239572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Magnesium oxide</a:t>
            </a:r>
          </a:p>
        </p:txBody>
      </p:sp>
      <p:sp>
        <p:nvSpPr>
          <p:cNvPr id="8" name="Oval 7"/>
          <p:cNvSpPr/>
          <p:nvPr/>
        </p:nvSpPr>
        <p:spPr>
          <a:xfrm>
            <a:off x="1024128" y="2532888"/>
            <a:ext cx="694944" cy="694944"/>
          </a:xfrm>
          <a:prstGeom prst="ellipse">
            <a:avLst/>
          </a:prstGeom>
          <a:solidFill>
            <a:srgbClr val="D96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727472"/>
            <a:ext cx="694944" cy="2084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Mg²⁺</a:t>
            </a:r>
          </a:p>
        </p:txBody>
      </p:sp>
      <p:sp>
        <p:nvSpPr>
          <p:cNvPr id="10" name="Oval 9"/>
          <p:cNvSpPr/>
          <p:nvPr/>
        </p:nvSpPr>
        <p:spPr>
          <a:xfrm>
            <a:off x="2258568" y="2532888"/>
            <a:ext cx="694944" cy="694944"/>
          </a:xfrm>
          <a:prstGeom prst="ellipse">
            <a:avLst/>
          </a:prstGeom>
          <a:solidFill>
            <a:srgbClr val="177FB5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58568" y="2727472"/>
            <a:ext cx="694944" cy="2084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O²⁻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55648" y="2880360"/>
            <a:ext cx="448056" cy="0"/>
          </a:xfrm>
          <a:prstGeom prst="line">
            <a:avLst/>
          </a:prstGeom>
          <a:ln w="35560">
            <a:solidFill>
              <a:srgbClr val="02C3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2130552" y="2820924"/>
            <a:ext cx="118872" cy="118872"/>
          </a:xfrm>
          <a:prstGeom prst="triangl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703320"/>
            <a:ext cx="2286000" cy="832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DCE6F5"/>
                </a:solidFill>
                <a:latin typeface="Calibri"/>
              </a:rPr>
              <a:t>A displacement creates an electric field that reaches beyond nearby atoms.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992624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2C39A"/>
                </a:solidFill>
                <a:latin typeface="Calibri"/>
              </a:rPr>
              <a:t>Local chemistry + long-range electrostatics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03904" y="1581912"/>
            <a:ext cx="46451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2224A"/>
                </a:solidFill>
                <a:latin typeface="Cambria"/>
              </a:rPr>
              <a:t>Four outputs in the comparison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22191" y="2084831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22191" y="21396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075688"/>
            <a:ext cx="199339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2224A"/>
                </a:solidFill>
                <a:latin typeface="Calibri"/>
              </a:rPr>
              <a:t>Actual DFT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075688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B7B"/>
                </a:solidFill>
                <a:latin typeface="Calibri"/>
              </a:rPr>
              <a:t>physics reference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22191" y="2916936"/>
            <a:ext cx="384048" cy="384048"/>
          </a:xfrm>
          <a:prstGeom prst="roundRect">
            <a:avLst>
              <a:gd name="adj" fmla="val 8000"/>
            </a:avLst>
          </a:prstGeom>
          <a:solidFill>
            <a:srgbClr val="D9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22191" y="2971800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907792"/>
            <a:ext cx="199339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2224A"/>
                </a:solidFill>
                <a:latin typeface="Calibri"/>
              </a:rPr>
              <a:t>Direct Full-H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907792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B7B"/>
                </a:solidFill>
                <a:latin typeface="Calibri"/>
              </a:rPr>
              <a:t>learn the complete electronic matrix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22191" y="3749039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7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22191" y="3803903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739896"/>
            <a:ext cx="199339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2224A"/>
                </a:solidFill>
                <a:latin typeface="Calibri"/>
              </a:rPr>
              <a:t>LR-corrected SR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739896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B7B"/>
                </a:solidFill>
                <a:latin typeface="Calibri"/>
              </a:rPr>
              <a:t>learn local part + fixed long-range physics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22191" y="4581144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D8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22191" y="4636007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4572000"/>
            <a:ext cx="199339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2224A"/>
                </a:solidFill>
                <a:latin typeface="Calibri"/>
              </a:rPr>
              <a:t>SR + predicted Z* + ε∞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572000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B7B"/>
                </a:solidFill>
                <a:latin typeface="Calibri"/>
              </a:rPr>
              <a:t>learn local part + learned charge and screening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22191" y="5605272"/>
            <a:ext cx="4645152" cy="39319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41648" y="5715000"/>
            <a:ext cx="4206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 i="0">
                <a:solidFill>
                  <a:srgbClr val="12224A"/>
                </a:solidFill>
                <a:latin typeface="Calibri"/>
              </a:rPr>
              <a:t>Z* = effective charge · ε∞ = electronic screening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" y="6583680"/>
            <a:ext cx="5257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5A6B7B"/>
                </a:solidFill>
                <a:latin typeface="Calibri"/>
              </a:rPr>
              <a:t>JEREMIAH BAILEY  ·  SURF 2026  ·  BERNARDI GROUP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2752" y="6583680"/>
            <a:ext cx="2926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40" b="0" i="0">
                <a:solidFill>
                  <a:srgbClr val="5A6B7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46888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C7293"/>
                </a:solidFill>
                <a:latin typeface="Calibri"/>
              </a:rPr>
              <a:t>WHAT I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8065008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2224A"/>
                </a:solidFill>
                <a:latin typeface="Cambria"/>
              </a:rPr>
              <a:t>One structural encoder feeds three physical predictions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34440"/>
            <a:ext cx="8083296" cy="0"/>
          </a:xfrm>
          <a:prstGeom prst="line">
            <a:avLst/>
          </a:prstGeom>
          <a:ln w="1143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21040" y="274320"/>
            <a:ext cx="2743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A6B7B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93976"/>
            <a:ext cx="1170432" cy="10058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313432"/>
            <a:ext cx="8961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2224A"/>
                </a:solidFill>
                <a:latin typeface="Cambria"/>
              </a:rPr>
              <a:t>Atomic
structure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73936" y="2596896"/>
            <a:ext cx="329184" cy="0"/>
          </a:xfrm>
          <a:prstGeom prst="line">
            <a:avLst/>
          </a:prstGeom>
          <a:ln w="317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2029967" y="2537460"/>
            <a:ext cx="118872" cy="118872"/>
          </a:xfrm>
          <a:prstGeom prst="triangl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67128" y="1810512"/>
            <a:ext cx="1399032" cy="1572768"/>
          </a:xfrm>
          <a:prstGeom prst="roundRect">
            <a:avLst>
              <a:gd name="adj" fmla="val 8000"/>
            </a:avLst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2167128"/>
            <a:ext cx="106984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Shared
encoder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825496"/>
            <a:ext cx="1069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B9C6DE"/>
                </a:solidFill>
                <a:latin typeface="Calibri"/>
              </a:rPr>
              <a:t>learns reusable
structure features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3602736" y="1892808"/>
            <a:ext cx="420624" cy="704088"/>
          </a:xfrm>
          <a:prstGeom prst="line">
            <a:avLst/>
          </a:prstGeom>
          <a:ln w="2159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3950208" y="1833372"/>
            <a:ext cx="118872" cy="118872"/>
          </a:xfrm>
          <a:prstGeom prst="triangl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96512" y="1481328"/>
            <a:ext cx="1920240" cy="822960"/>
          </a:xfrm>
          <a:prstGeom prst="roundRect">
            <a:avLst>
              <a:gd name="adj" fmla="val 8000"/>
            </a:avLst>
          </a:prstGeom>
          <a:solidFill>
            <a:srgbClr val="E7F2F8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1609344"/>
            <a:ext cx="170078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77FB5"/>
                </a:solidFill>
                <a:latin typeface="Cambria"/>
              </a:rPr>
              <a:t>Short-range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15384" y="1956816"/>
            <a:ext cx="16824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 i="0">
                <a:solidFill>
                  <a:srgbClr val="5A6B7B"/>
                </a:solidFill>
                <a:latin typeface="Calibri"/>
              </a:rPr>
              <a:t>local electronic rulebook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02736" y="2596896"/>
            <a:ext cx="420624" cy="329184"/>
          </a:xfrm>
          <a:prstGeom prst="line">
            <a:avLst/>
          </a:prstGeom>
          <a:ln w="2159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3950208" y="2866644"/>
            <a:ext cx="118872" cy="118872"/>
          </a:xfrm>
          <a:prstGeom prst="triangl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096512" y="2514600"/>
            <a:ext cx="1920240" cy="822960"/>
          </a:xfrm>
          <a:prstGeom prst="roundRect">
            <a:avLst>
              <a:gd name="adj" fmla="val 8000"/>
            </a:avLst>
          </a:prstGeom>
          <a:solidFill>
            <a:srgbClr val="F8E3D2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2642616"/>
            <a:ext cx="170078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D96000"/>
                </a:solidFill>
                <a:latin typeface="Cambria"/>
              </a:rPr>
              <a:t>Born charge Z*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15384" y="2990088"/>
            <a:ext cx="16824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 i="0">
                <a:solidFill>
                  <a:srgbClr val="5A6B7B"/>
                </a:solidFill>
                <a:latin typeface="Calibri"/>
              </a:rPr>
              <a:t>how motion polarizes the crystal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02736" y="2596896"/>
            <a:ext cx="420624" cy="1362456"/>
          </a:xfrm>
          <a:prstGeom prst="line">
            <a:avLst/>
          </a:prstGeom>
          <a:ln w="2159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3950208" y="3899915"/>
            <a:ext cx="118872" cy="118872"/>
          </a:xfrm>
          <a:prstGeom prst="triangl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096512" y="3547872"/>
            <a:ext cx="1920240" cy="822960"/>
          </a:xfrm>
          <a:prstGeom prst="roundRect">
            <a:avLst>
              <a:gd name="adj" fmla="val 8000"/>
            </a:avLst>
          </a:prstGeom>
          <a:solidFill>
            <a:srgbClr val="E4F4EE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0" y="3675887"/>
            <a:ext cx="170078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D8A66"/>
                </a:solidFill>
                <a:latin typeface="Cambria"/>
              </a:rPr>
              <a:t>Screening ε∞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15384" y="4023360"/>
            <a:ext cx="16824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 i="0">
                <a:solidFill>
                  <a:srgbClr val="5A6B7B"/>
                </a:solidFill>
                <a:latin typeface="Calibri"/>
              </a:rPr>
              <a:t>how electrons weaken the field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99048" y="2596896"/>
            <a:ext cx="347472" cy="0"/>
          </a:xfrm>
          <a:prstGeom prst="line">
            <a:avLst/>
          </a:prstGeom>
          <a:ln w="3048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5400000">
            <a:off x="6373368" y="2537460"/>
            <a:ext cx="118872" cy="118872"/>
          </a:xfrm>
          <a:prstGeom prst="triangl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510528" y="1920240"/>
            <a:ext cx="1993392" cy="1353312"/>
          </a:xfrm>
          <a:prstGeom prst="roundRect">
            <a:avLst>
              <a:gd name="adj" fmla="val 8000"/>
            </a:avLst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11696" y="2185416"/>
            <a:ext cx="159105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Reconstruct
total 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11696" y="2798064"/>
            <a:ext cx="15910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 i="0">
                <a:solidFill>
                  <a:srgbClr val="02C39A"/>
                </a:solidFill>
                <a:latin typeface="Calibri"/>
              </a:rPr>
              <a:t>local ML + analytic
long-range physics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4965192"/>
            <a:ext cx="7644383" cy="70408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8" y="5193792"/>
            <a:ext cx="709574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2224A"/>
                </a:solidFill>
                <a:latin typeface="Calibri"/>
              </a:rPr>
              <a:t>Built-in safeguards:  </a:t>
            </a:r>
            <a:r>
              <a:rPr sz="1100" b="1">
                <a:solidFill>
                  <a:srgbClr val="D96000"/>
                </a:solidFill>
                <a:latin typeface="Calibri"/>
              </a:rPr>
              <a:t>charge balance</a:t>
            </a:r>
            <a:r>
              <a:rPr sz="1100" b="0">
                <a:solidFill>
                  <a:srgbClr val="5A6B7B"/>
                </a:solidFill>
                <a:latin typeface="Calibri"/>
              </a:rPr>
              <a:t>  ·  </a:t>
            </a:r>
            <a:r>
              <a:rPr sz="1100" b="1">
                <a:solidFill>
                  <a:srgbClr val="2D8A66"/>
                </a:solidFill>
                <a:latin typeface="Calibri"/>
              </a:rPr>
              <a:t>positive screening</a:t>
            </a:r>
            <a:r>
              <a:rPr sz="1100" b="0">
                <a:solidFill>
                  <a:srgbClr val="5A6B7B"/>
                </a:solidFill>
                <a:latin typeface="Calibri"/>
              </a:rPr>
              <a:t>  ·  </a:t>
            </a:r>
            <a:r>
              <a:rPr sz="1100" b="1">
                <a:solidFill>
                  <a:srgbClr val="177FB5"/>
                </a:solidFill>
                <a:latin typeface="Calibri"/>
              </a:rPr>
              <a:t>no direct full-H shortcut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" y="6583680"/>
            <a:ext cx="5257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5A6B7B"/>
                </a:solidFill>
                <a:latin typeface="Calibri"/>
              </a:rPr>
              <a:t>JEREMIAH BAILEY  ·  SURF 2026  ·  BERNARDI GROUP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2752" y="6583680"/>
            <a:ext cx="2926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40" b="0" i="0">
                <a:solidFill>
                  <a:srgbClr val="5A6B7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46888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C7293"/>
                </a:solidFill>
                <a:latin typeface="Calibri"/>
              </a:rPr>
              <a:t>HOW I TESTED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8065008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2224A"/>
                </a:solidFill>
                <a:latin typeface="Cambria"/>
              </a:rPr>
              <a:t>Separate data answer separate questions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34440"/>
            <a:ext cx="8083296" cy="0"/>
          </a:xfrm>
          <a:prstGeom prst="line">
            <a:avLst/>
          </a:prstGeom>
          <a:ln w="1143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21040" y="274320"/>
            <a:ext cx="2743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A6B7B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572768"/>
            <a:ext cx="2414016" cy="313639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61872" y="1810512"/>
            <a:ext cx="1069848" cy="256032"/>
          </a:xfrm>
          <a:prstGeom prst="roundRect">
            <a:avLst>
              <a:gd name="adj" fmla="val 8000"/>
            </a:avLst>
          </a:prstGeom>
          <a:solidFill>
            <a:srgbClr val="17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61872" y="1819656"/>
            <a:ext cx="10698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Calibri"/>
              </a:rPr>
              <a:t>367 STRUCTURES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377440"/>
            <a:ext cx="204825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2224A"/>
                </a:solidFill>
                <a:latin typeface="Cambria"/>
              </a:rPr>
              <a:t>Hamiltonian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090672"/>
            <a:ext cx="1865376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A6B7B"/>
                </a:solidFill>
                <a:latin typeface="Calibri"/>
              </a:rPr>
              <a:t>Teach and monitor the electronic matrix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17520" y="3127248"/>
            <a:ext cx="274320" cy="0"/>
          </a:xfrm>
          <a:prstGeom prst="line">
            <a:avLst/>
          </a:prstGeom>
          <a:ln w="2794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5400000">
            <a:off x="3218688" y="3067812"/>
            <a:ext cx="118872" cy="118872"/>
          </a:xfrm>
          <a:prstGeom prst="triangl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64992" y="1572768"/>
            <a:ext cx="2414016" cy="313639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041648" y="1810512"/>
            <a:ext cx="1069848" cy="256032"/>
          </a:xfrm>
          <a:prstGeom prst="roundRect">
            <a:avLst>
              <a:gd name="adj" fmla="val 8000"/>
            </a:avLst>
          </a:prstGeom>
          <a:solidFill>
            <a:srgbClr val="D9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41648" y="1819656"/>
            <a:ext cx="10698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Calibri"/>
              </a:rPr>
              <a:t>10 STRUCTURES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2377440"/>
            <a:ext cx="204825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2224A"/>
                </a:solidFill>
                <a:latin typeface="Cambria"/>
              </a:rPr>
              <a:t>Tensor 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3090672"/>
            <a:ext cx="1865376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A6B7B"/>
                </a:solidFill>
                <a:latin typeface="Calibri"/>
              </a:rPr>
              <a:t>Teach effective charge and screening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97296" y="3127248"/>
            <a:ext cx="274320" cy="0"/>
          </a:xfrm>
          <a:prstGeom prst="line">
            <a:avLst/>
          </a:prstGeom>
          <a:ln w="2794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5998464" y="3067812"/>
            <a:ext cx="118872" cy="118872"/>
          </a:xfrm>
          <a:prstGeom prst="triangl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44768" y="1572768"/>
            <a:ext cx="2414016" cy="313639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21424" y="1810512"/>
            <a:ext cx="1069848" cy="256032"/>
          </a:xfrm>
          <a:prstGeom prst="roundRect">
            <a:avLst>
              <a:gd name="adj" fmla="val 8000"/>
            </a:avLst>
          </a:prstGeom>
          <a:solidFill>
            <a:srgbClr val="2D8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1819656"/>
            <a:ext cx="10698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Calibri"/>
              </a:rPr>
              <a:t>5 STRUCTURES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2377440"/>
            <a:ext cx="204825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2224A"/>
                </a:solidFill>
                <a:latin typeface="Cambria"/>
              </a:rPr>
              <a:t>Locked tensor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090672"/>
            <a:ext cx="1865376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A6B7B"/>
                </a:solidFill>
                <a:latin typeface="Calibri"/>
              </a:rPr>
              <a:t>Open once after every model choice is frozen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084064"/>
            <a:ext cx="7498079" cy="676656"/>
          </a:xfrm>
          <a:prstGeom prst="roundRect">
            <a:avLst>
              <a:gd name="adj" fmla="val 8000"/>
            </a:avLst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0704" y="5266944"/>
            <a:ext cx="1170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2C39A"/>
                </a:solidFill>
                <a:latin typeface="Calibri"/>
              </a:rPr>
              <a:t>Selection rule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2576" y="5239512"/>
            <a:ext cx="5596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Hamiltonian, charge, and screening gates had to pass for ten consecutive validation checks.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5961888"/>
            <a:ext cx="709574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5A6B7B"/>
                </a:solidFill>
                <a:latin typeface="Calibri"/>
              </a:rPr>
              <a:t>The locked five were not used to select the architecture, learning rate, or checkpoint.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6583680"/>
            <a:ext cx="5257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5A6B7B"/>
                </a:solidFill>
                <a:latin typeface="Calibri"/>
              </a:rPr>
              <a:t>JEREMIAH BAILEY  ·  SURF 2026  ·  BERNARDI GROUP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6583680"/>
            <a:ext cx="2926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40" b="0" i="0">
                <a:solidFill>
                  <a:srgbClr val="5A6B7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46888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C7293"/>
                </a:solidFill>
                <a:latin typeface="Calibri"/>
              </a:rPr>
              <a:t>TRAINING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8065008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2224A"/>
                </a:solidFill>
                <a:latin typeface="Cambria"/>
              </a:rPr>
              <a:t>The new tasks did not destabilize the original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34440"/>
            <a:ext cx="8083296" cy="0"/>
          </a:xfrm>
          <a:prstGeom prst="line">
            <a:avLst/>
          </a:prstGeom>
          <a:ln w="1143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21040" y="274320"/>
            <a:ext cx="2743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A6B7B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417320"/>
            <a:ext cx="8266175" cy="38221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training_and_multitask_g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116321"/>
            <a:ext cx="8266175" cy="242418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3232" y="5440680"/>
            <a:ext cx="7717536" cy="411480"/>
          </a:xfrm>
          <a:prstGeom prst="roundRect">
            <a:avLst>
              <a:gd name="adj" fmla="val 8000"/>
            </a:avLst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55040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All three gates passed for ten consecutive epochs · selected checkpoint: epoch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6035040"/>
            <a:ext cx="75346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 i="1">
                <a:solidFill>
                  <a:srgbClr val="5A6B7B"/>
                </a:solidFill>
                <a:latin typeface="Calibri"/>
              </a:rPr>
              <a:t>Read the center and right panels as stability checks; the detailed scales are less important than staying below each dashed threshold.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583680"/>
            <a:ext cx="5257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5A6B7B"/>
                </a:solidFill>
                <a:latin typeface="Calibri"/>
              </a:rPr>
              <a:t>JEREMIAH BAILEY  ·  SURF 2026  ·  BERNARDI GROUP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6583680"/>
            <a:ext cx="2926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40" b="0" i="0">
                <a:solidFill>
                  <a:srgbClr val="5A6B7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46888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C7293"/>
                </a:solidFill>
                <a:latin typeface="Calibri"/>
              </a:rPr>
              <a:t>FIRST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8065008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2224A"/>
                </a:solidFill>
                <a:latin typeface="Cambria"/>
              </a:rPr>
              <a:t>The learned tensors beat constant guesses on unseen structures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34440"/>
            <a:ext cx="8083296" cy="0"/>
          </a:xfrm>
          <a:prstGeom prst="line">
            <a:avLst/>
          </a:prstGeom>
          <a:ln w="1143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21040" y="274320"/>
            <a:ext cx="2743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A6B7B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581912"/>
            <a:ext cx="3730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2224A"/>
                </a:solidFill>
                <a:latin typeface="Calibri"/>
              </a:rPr>
              <a:t>Effective charge (Born tensor)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020824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B7B"/>
                </a:solidFill>
                <a:latin typeface="Calibri"/>
              </a:rPr>
              <a:t>Constant baseline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84248" y="2020824"/>
            <a:ext cx="2423160" cy="182880"/>
          </a:xfrm>
          <a:prstGeom prst="roundRect">
            <a:avLst>
              <a:gd name="adj" fmla="val 8000"/>
            </a:avLst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84248" y="2020824"/>
            <a:ext cx="2423160" cy="182880"/>
          </a:xfrm>
          <a:prstGeom prst="roundRect">
            <a:avLst>
              <a:gd name="adj" fmla="val 8000"/>
            </a:avLst>
          </a:prstGeom>
          <a:solidFill>
            <a:srgbClr val="5A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84248" y="2267712"/>
            <a:ext cx="2423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 i="0">
                <a:solidFill>
                  <a:srgbClr val="5A6B7B"/>
                </a:solidFill>
                <a:latin typeface="Calibri"/>
              </a:rPr>
              <a:t>0.003201 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6426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D96000"/>
                </a:solidFill>
                <a:latin typeface="Calibri"/>
              </a:rPr>
              <a:t>Learned 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84248" y="2642616"/>
            <a:ext cx="2423160" cy="182880"/>
          </a:xfrm>
          <a:prstGeom prst="roundRect">
            <a:avLst>
              <a:gd name="adj" fmla="val 8000"/>
            </a:avLst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984248" y="2642616"/>
            <a:ext cx="1793065" cy="182880"/>
          </a:xfrm>
          <a:prstGeom prst="roundRect">
            <a:avLst>
              <a:gd name="adj" fmla="val 8000"/>
            </a:avLst>
          </a:prstGeom>
          <a:solidFill>
            <a:srgbClr val="D9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84248" y="2889504"/>
            <a:ext cx="2423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 i="0">
                <a:solidFill>
                  <a:srgbClr val="D96000"/>
                </a:solidFill>
                <a:latin typeface="Calibri"/>
              </a:rPr>
              <a:t>0.002369 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1581912"/>
            <a:ext cx="3730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2224A"/>
                </a:solidFill>
                <a:latin typeface="Calibri"/>
              </a:rPr>
              <a:t>Electronic screening (ε∞)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2020824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B7B"/>
                </a:solidFill>
                <a:latin typeface="Calibri"/>
              </a:rPr>
              <a:t>Constant baseline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44183" y="2020824"/>
            <a:ext cx="2423160" cy="182880"/>
          </a:xfrm>
          <a:prstGeom prst="roundRect">
            <a:avLst>
              <a:gd name="adj" fmla="val 8000"/>
            </a:avLst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44183" y="2020824"/>
            <a:ext cx="2423160" cy="182880"/>
          </a:xfrm>
          <a:prstGeom prst="roundRect">
            <a:avLst>
              <a:gd name="adj" fmla="val 8000"/>
            </a:avLst>
          </a:prstGeom>
          <a:solidFill>
            <a:srgbClr val="5A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44183" y="2267712"/>
            <a:ext cx="2423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 i="0">
                <a:solidFill>
                  <a:srgbClr val="5A6B7B"/>
                </a:solidFill>
                <a:latin typeface="Calibri"/>
              </a:rPr>
              <a:t>0.001466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26426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2D8A66"/>
                </a:solidFill>
                <a:latin typeface="Calibri"/>
              </a:rPr>
              <a:t>Learned model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44183" y="2642616"/>
            <a:ext cx="2423160" cy="182880"/>
          </a:xfrm>
          <a:prstGeom prst="roundRect">
            <a:avLst>
              <a:gd name="adj" fmla="val 8000"/>
            </a:avLst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44183" y="2642616"/>
            <a:ext cx="643331" cy="182880"/>
          </a:xfrm>
          <a:prstGeom prst="roundRect">
            <a:avLst>
              <a:gd name="adj" fmla="val 8000"/>
            </a:avLst>
          </a:prstGeom>
          <a:solidFill>
            <a:srgbClr val="2D8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44183" y="2889504"/>
            <a:ext cx="2423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 i="0">
                <a:solidFill>
                  <a:srgbClr val="2D8A66"/>
                </a:solidFill>
                <a:latin typeface="Calibri"/>
              </a:rPr>
              <a:t>0.000389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822191"/>
            <a:ext cx="1664208" cy="713232"/>
          </a:xfrm>
          <a:prstGeom prst="roundRect">
            <a:avLst>
              <a:gd name="adj" fmla="val 8000"/>
            </a:avLst>
          </a:prstGeom>
          <a:solidFill>
            <a:srgbClr val="F8E3D2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3913631"/>
            <a:ext cx="14447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D96000"/>
                </a:solidFill>
                <a:latin typeface="Cambria"/>
              </a:rPr>
              <a:t>26%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" y="4270248"/>
            <a:ext cx="14447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5A6B7B"/>
                </a:solidFill>
                <a:latin typeface="Calibri"/>
              </a:rPr>
              <a:t>LOWER CHARGE ERROR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88336" y="3822191"/>
            <a:ext cx="1755648" cy="713232"/>
          </a:xfrm>
          <a:prstGeom prst="roundRect">
            <a:avLst>
              <a:gd name="adj" fmla="val 8000"/>
            </a:avLst>
          </a:prstGeom>
          <a:solidFill>
            <a:srgbClr val="E4F4EE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98064" y="3913631"/>
            <a:ext cx="15361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D8A66"/>
                </a:solidFill>
                <a:latin typeface="Cambria"/>
              </a:rPr>
              <a:t>73%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98064" y="4270248"/>
            <a:ext cx="15361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5A6B7B"/>
                </a:solidFill>
                <a:latin typeface="Calibri"/>
              </a:rPr>
              <a:t>LOWER SCREENING 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27448" y="3822191"/>
            <a:ext cx="1673352" cy="713232"/>
          </a:xfrm>
          <a:prstGeom prst="roundRect">
            <a:avLst>
              <a:gd name="adj" fmla="val 8000"/>
            </a:avLst>
          </a:prstGeom>
          <a:solidFill>
            <a:srgbClr val="E7F2F8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37176" y="3913631"/>
            <a:ext cx="1453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77FB5"/>
                </a:solidFill>
                <a:latin typeface="Cambria"/>
              </a:rPr>
              <a:t>balanced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37176" y="4270248"/>
            <a:ext cx="14538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5A6B7B"/>
                </a:solidFill>
                <a:latin typeface="Calibri"/>
              </a:rPr>
              <a:t>TOTAL EFFECTIVE CHARGE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01968" y="3822191"/>
            <a:ext cx="1719072" cy="71323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11696" y="3913631"/>
            <a:ext cx="14996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C7293"/>
                </a:solidFill>
                <a:latin typeface="Cambria"/>
              </a:rPr>
              <a:t>positive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11696" y="4270248"/>
            <a:ext cx="1499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5A6B7B"/>
                </a:solidFill>
                <a:latin typeface="Calibri"/>
              </a:rPr>
              <a:t>SCREENING EIGENVALUES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" y="4974336"/>
            <a:ext cx="7571231" cy="603504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" y="5129784"/>
            <a:ext cx="7095744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 i="0">
                <a:solidFill>
                  <a:srgbClr val="12224A"/>
                </a:solidFill>
                <a:latin typeface="Calibri"/>
              </a:rPr>
              <a:t>Interpretation: the heads learned geometry-dependent signal. Limitation: five test structures support a prototype result, not broad generalization.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" y="6583680"/>
            <a:ext cx="5257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5A6B7B"/>
                </a:solidFill>
                <a:latin typeface="Calibri"/>
              </a:rPr>
              <a:t>JEREMIAH BAILEY  ·  SURF 2026  ·  BERNARDI GROUP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2" y="6583680"/>
            <a:ext cx="2926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40" b="0" i="0">
                <a:solidFill>
                  <a:srgbClr val="5A6B7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46888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C7293"/>
                </a:solidFill>
                <a:latin typeface="Calibri"/>
              </a:rPr>
              <a:t>SECOND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8065008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2224A"/>
                </a:solidFill>
                <a:latin typeface="Cambria"/>
              </a:rPr>
              <a:t>For electronic values, direct Full-H still leads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34440"/>
            <a:ext cx="8083296" cy="0"/>
          </a:xfrm>
          <a:prstGeom prst="line">
            <a:avLst/>
          </a:prstGeom>
          <a:ln w="1143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21040" y="274320"/>
            <a:ext cx="2743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A6B7B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426464"/>
            <a:ext cx="6528816" cy="4041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_locked_hamiltonian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1" y="2143353"/>
            <a:ext cx="6528816" cy="26078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32320" y="1645920"/>
            <a:ext cx="1463040" cy="713232"/>
          </a:xfrm>
          <a:prstGeom prst="roundRect">
            <a:avLst>
              <a:gd name="adj" fmla="val 8000"/>
            </a:avLst>
          </a:prstGeom>
          <a:solidFill>
            <a:srgbClr val="F8E3D2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42048" y="1737360"/>
            <a:ext cx="12435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D96000"/>
                </a:solidFill>
                <a:latin typeface="Cambria"/>
              </a:rPr>
              <a:t>0.417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2048" y="2093976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5A6B7B"/>
                </a:solidFill>
                <a:latin typeface="Calibri"/>
              </a:rPr>
              <a:t>DIRECT FULL-H MAE (meV)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2770632"/>
            <a:ext cx="1463040" cy="713232"/>
          </a:xfrm>
          <a:prstGeom prst="roundRect">
            <a:avLst>
              <a:gd name="adj" fmla="val 8000"/>
            </a:avLst>
          </a:prstGeom>
          <a:solidFill>
            <a:srgbClr val="E7F2F8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42048" y="2862072"/>
            <a:ext cx="12435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77FB5"/>
                </a:solidFill>
                <a:latin typeface="Cambria"/>
              </a:rPr>
              <a:t>0.487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42048" y="3218687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5A6B7B"/>
                </a:solidFill>
                <a:latin typeface="Calibri"/>
              </a:rPr>
              <a:t>FIXED-PHYSICS SR (meV)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3895344"/>
            <a:ext cx="1463040" cy="713232"/>
          </a:xfrm>
          <a:prstGeom prst="roundRect">
            <a:avLst>
              <a:gd name="adj" fmla="val 8000"/>
            </a:avLst>
          </a:prstGeom>
          <a:solidFill>
            <a:srgbClr val="E4F4EE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42048" y="3986783"/>
            <a:ext cx="12435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D8A66"/>
                </a:solidFill>
                <a:latin typeface="Cambria"/>
              </a:rPr>
              <a:t>0.485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42048" y="4343400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5A6B7B"/>
                </a:solidFill>
                <a:latin typeface="Calibri"/>
              </a:rPr>
              <a:t>LEARNED-TENSOR SR (meV)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5010912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5A6B7B"/>
                </a:solidFill>
                <a:latin typeface="Calibri"/>
              </a:rPr>
              <a:t>Lower is better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5742432"/>
            <a:ext cx="7571231" cy="457200"/>
          </a:xfrm>
          <a:prstGeom prst="roundRect">
            <a:avLst>
              <a:gd name="adj" fmla="val 8000"/>
            </a:avLst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861304"/>
            <a:ext cx="7132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 i="0">
                <a:solidFill>
                  <a:srgbClr val="FFFFFF"/>
                </a:solidFill>
                <a:latin typeface="Calibri"/>
              </a:rPr>
              <a:t>The learned tensors slightly improve the SR reconstruction—but do not close the value gap.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583680"/>
            <a:ext cx="5257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5A6B7B"/>
                </a:solidFill>
                <a:latin typeface="Calibri"/>
              </a:rPr>
              <a:t>JEREMIAH BAILEY  ·  SURF 2026  ·  BERNARDI GROUP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6583680"/>
            <a:ext cx="2926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40" b="0" i="0">
                <a:solidFill>
                  <a:srgbClr val="5A6B7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46888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C7293"/>
                </a:solidFill>
                <a:latin typeface="Calibri"/>
              </a:rPr>
              <a:t>THIRD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8065008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2224A"/>
                </a:solidFill>
                <a:latin typeface="Cambria"/>
              </a:rPr>
              <a:t>For atomic-motion response, both SR models win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34440"/>
            <a:ext cx="8083296" cy="0"/>
          </a:xfrm>
          <a:prstGeom prst="line">
            <a:avLst/>
          </a:prstGeom>
          <a:ln w="1143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21040" y="274320"/>
            <a:ext cx="2743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A6B7B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444752"/>
            <a:ext cx="6565392" cy="3995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_epc_overall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131109"/>
            <a:ext cx="6565391" cy="262321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50608" y="1709928"/>
            <a:ext cx="1444752" cy="713232"/>
          </a:xfrm>
          <a:prstGeom prst="roundRect">
            <a:avLst>
              <a:gd name="adj" fmla="val 8000"/>
            </a:avLst>
          </a:prstGeom>
          <a:solidFill>
            <a:srgbClr val="F8E3D2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60336" y="1801368"/>
            <a:ext cx="12252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D96000"/>
                </a:solidFill>
                <a:latin typeface="Cambria"/>
              </a:rPr>
              <a:t>92%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0336" y="2157984"/>
            <a:ext cx="12252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5A6B7B"/>
                </a:solidFill>
                <a:latin typeface="Calibri"/>
              </a:rPr>
              <a:t>DIRECT FULL-H ERROR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0608" y="2880360"/>
            <a:ext cx="1444752" cy="713232"/>
          </a:xfrm>
          <a:prstGeom prst="roundRect">
            <a:avLst>
              <a:gd name="adj" fmla="val 8000"/>
            </a:avLst>
          </a:prstGeom>
          <a:solidFill>
            <a:srgbClr val="E7F2F8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0336" y="2971800"/>
            <a:ext cx="12252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77FB5"/>
                </a:solidFill>
                <a:latin typeface="Cambria"/>
              </a:rPr>
              <a:t>24.4%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0336" y="3328415"/>
            <a:ext cx="12252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5A6B7B"/>
                </a:solidFill>
                <a:latin typeface="Calibri"/>
              </a:rPr>
              <a:t>FIXED-PHYSICS SR ERROR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50608" y="4050791"/>
            <a:ext cx="1444752" cy="713232"/>
          </a:xfrm>
          <a:prstGeom prst="roundRect">
            <a:avLst>
              <a:gd name="adj" fmla="val 8000"/>
            </a:avLst>
          </a:prstGeom>
          <a:solidFill>
            <a:srgbClr val="E4F4EE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0336" y="4142231"/>
            <a:ext cx="12252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D8A66"/>
                </a:solidFill>
                <a:latin typeface="Cambria"/>
              </a:rPr>
              <a:t>24.4%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0336" y="4498848"/>
            <a:ext cx="12252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5A6B7B"/>
                </a:solidFill>
                <a:latin typeface="Calibri"/>
              </a:rPr>
              <a:t>LEARNED-TENSOR SR ERROR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" y="5733288"/>
            <a:ext cx="7571231" cy="457200"/>
          </a:xfrm>
          <a:prstGeom prst="roundRect">
            <a:avLst>
              <a:gd name="adj" fmla="val 8000"/>
            </a:avLst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852160"/>
            <a:ext cx="7132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 i="0">
                <a:solidFill>
                  <a:srgbClr val="FFFFFF"/>
                </a:solidFill>
                <a:latin typeface="Calibri"/>
              </a:rPr>
              <a:t>Matching values is not enough: the derivative exposes how the model behaves between examples.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6583680"/>
            <a:ext cx="5257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5A6B7B"/>
                </a:solidFill>
                <a:latin typeface="Calibri"/>
              </a:rPr>
              <a:t>JEREMIAH BAILEY  ·  SURF 2026  ·  BERNARDI GROUP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6583680"/>
            <a:ext cx="2926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40" b="0" i="0">
                <a:solidFill>
                  <a:srgbClr val="5A6B7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46888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C7293"/>
                </a:solidFill>
                <a:latin typeface="Calibri"/>
              </a:rPr>
              <a:t>WHERE THE DIFFERENCE APPEARS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8065008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2224A"/>
                </a:solidFill>
                <a:latin typeface="Cambria"/>
              </a:rPr>
              <a:t>Longer-wavelength labels separate value and response quality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34440"/>
            <a:ext cx="8083296" cy="0"/>
          </a:xfrm>
          <a:prstGeom prst="line">
            <a:avLst/>
          </a:prstGeom>
          <a:ln w="1143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21040" y="274320"/>
            <a:ext cx="2743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A6B7B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426464"/>
            <a:ext cx="5687568" cy="4453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_epc_q_resolv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667919"/>
            <a:ext cx="5687568" cy="397021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37376" y="1636776"/>
            <a:ext cx="2084831" cy="3941063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874519"/>
            <a:ext cx="1609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2224A"/>
                </a:solidFill>
                <a:latin typeface="Cambria"/>
              </a:rPr>
              <a:t>How to read this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56832" y="2395728"/>
            <a:ext cx="640080" cy="256032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2" y="240487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2404872"/>
            <a:ext cx="8778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5A6B7B"/>
                </a:solidFill>
                <a:latin typeface="Calibri"/>
              </a:rPr>
              <a:t>labels a vibration wavelength and direction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56832" y="3182112"/>
            <a:ext cx="640080" cy="256032"/>
          </a:xfrm>
          <a:prstGeom prst="roundRect">
            <a:avLst>
              <a:gd name="adj" fmla="val 8000"/>
            </a:avLst>
          </a:prstGeom>
          <a:solidFill>
            <a:srgbClr val="17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2" y="3191256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Calibri"/>
              </a:rPr>
              <a:t>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7" y="3191256"/>
            <a:ext cx="8778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5A6B7B"/>
                </a:solidFill>
                <a:latin typeface="Calibri"/>
              </a:rPr>
              <a:t>overall coupling strength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56832" y="3968496"/>
            <a:ext cx="640080" cy="256032"/>
          </a:xfrm>
          <a:prstGeom prst="roundRect">
            <a:avLst>
              <a:gd name="adj" fmla="val 8000"/>
            </a:avLst>
          </a:prstGeom>
          <a:solidFill>
            <a:srgbClr val="D9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3977639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Calibri"/>
              </a:rPr>
              <a:t>BOTTOM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4927" y="3977639"/>
            <a:ext cx="8778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5A6B7B"/>
                </a:solidFill>
                <a:latin typeface="Calibri"/>
              </a:rPr>
              <a:t>error relative to DFT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47688" y="4837176"/>
            <a:ext cx="1664208" cy="484632"/>
          </a:xfrm>
          <a:prstGeom prst="roundRect">
            <a:avLst>
              <a:gd name="adj" fmla="val 8000"/>
            </a:avLst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93992" y="491947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Calibri"/>
              </a:rPr>
              <a:t>Blue and green overlap; orange grows too strong away from q = 0.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583680"/>
            <a:ext cx="5257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5A6B7B"/>
                </a:solidFill>
                <a:latin typeface="Calibri"/>
              </a:rPr>
              <a:t>JEREMIAH BAILEY  ·  SURF 2026  ·  BERNARDI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6583680"/>
            <a:ext cx="2926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40" b="0" i="0">
                <a:solidFill>
                  <a:srgbClr val="5A6B7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46888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C7293"/>
                </a:solidFill>
                <a:latin typeface="Calibri"/>
              </a:rPr>
              <a:t>WHAT WE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8065008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2224A"/>
                </a:solidFill>
                <a:latin typeface="Cambria"/>
              </a:rPr>
              <a:t>The new heads work—but their EPC effect is below present sensitivity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34440"/>
            <a:ext cx="8083296" cy="0"/>
          </a:xfrm>
          <a:prstGeom prst="line">
            <a:avLst/>
          </a:prstGeom>
          <a:ln w="1143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21040" y="274320"/>
            <a:ext cx="2743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A6B7B"/>
                </a:solidFill>
                <a:latin typeface="Calibr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27048"/>
            <a:ext cx="3840480" cy="4233672"/>
          </a:xfrm>
          <a:prstGeom prst="roundRect">
            <a:avLst>
              <a:gd name="adj" fmla="val 8000"/>
            </a:avLst>
          </a:prstGeom>
          <a:solidFill>
            <a:srgbClr val="E4F4EE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773936"/>
            <a:ext cx="950976" cy="256032"/>
          </a:xfrm>
          <a:prstGeom prst="roundRect">
            <a:avLst>
              <a:gd name="adj" fmla="val 8000"/>
            </a:avLst>
          </a:prstGeom>
          <a:solidFill>
            <a:srgbClr val="2D8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783080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Calibri"/>
              </a:rPr>
              <a:t>SUPPORTED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" y="2386584"/>
            <a:ext cx="283464" cy="283464"/>
          </a:xfrm>
          <a:prstGeom prst="roundRect">
            <a:avLst>
              <a:gd name="adj" fmla="val 8000"/>
            </a:avLst>
          </a:prstGeom>
          <a:solidFill>
            <a:srgbClr val="2D8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2423160"/>
            <a:ext cx="2834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368296"/>
            <a:ext cx="276148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1" i="0">
                <a:solidFill>
                  <a:srgbClr val="12224A"/>
                </a:solidFill>
                <a:latin typeface="Calibri"/>
              </a:rPr>
              <a:t>Charge and screening heads learn unseen variation.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" y="3291839"/>
            <a:ext cx="283464" cy="283464"/>
          </a:xfrm>
          <a:prstGeom prst="roundRect">
            <a:avLst>
              <a:gd name="adj" fmla="val 8000"/>
            </a:avLst>
          </a:prstGeom>
          <a:solidFill>
            <a:srgbClr val="2D8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3328415"/>
            <a:ext cx="2834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3273551"/>
            <a:ext cx="276148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1" i="0">
                <a:solidFill>
                  <a:srgbClr val="12224A"/>
                </a:solidFill>
                <a:latin typeface="Calibri"/>
              </a:rPr>
              <a:t>The reconstructed Hamiltonian is complete and physically constrained.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" y="4197096"/>
            <a:ext cx="283464" cy="283464"/>
          </a:xfrm>
          <a:prstGeom prst="roundRect">
            <a:avLst>
              <a:gd name="adj" fmla="val 8000"/>
            </a:avLst>
          </a:prstGeom>
          <a:solidFill>
            <a:srgbClr val="2D8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" y="4233672"/>
            <a:ext cx="2834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4178808"/>
            <a:ext cx="276148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1" i="0">
                <a:solidFill>
                  <a:srgbClr val="12224A"/>
                </a:solidFill>
                <a:latin typeface="Calibri"/>
              </a:rPr>
              <a:t>Short-range target design improves EPC compared with direct Full-H.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36592" y="1527048"/>
            <a:ext cx="3840480" cy="4233672"/>
          </a:xfrm>
          <a:prstGeom prst="roundRect">
            <a:avLst>
              <a:gd name="adj" fmla="val 8000"/>
            </a:avLst>
          </a:prstGeom>
          <a:solidFill>
            <a:srgbClr val="F8E3D2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74336" y="1773936"/>
            <a:ext cx="1344168" cy="256032"/>
          </a:xfrm>
          <a:prstGeom prst="roundRect">
            <a:avLst>
              <a:gd name="adj" fmla="val 8000"/>
            </a:avLst>
          </a:prstGeom>
          <a:solidFill>
            <a:srgbClr val="D9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74336" y="1783080"/>
            <a:ext cx="13441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Calibri"/>
              </a:rPr>
              <a:t>NOT YET SUPPORTED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01768" y="2386584"/>
            <a:ext cx="283464" cy="283464"/>
          </a:xfrm>
          <a:prstGeom prst="roundRect">
            <a:avLst>
              <a:gd name="adj" fmla="val 8000"/>
            </a:avLst>
          </a:prstGeom>
          <a:solidFill>
            <a:srgbClr val="D9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1768" y="2423160"/>
            <a:ext cx="2834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68112" y="2368296"/>
            <a:ext cx="276148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1" i="0">
                <a:solidFill>
                  <a:srgbClr val="12224A"/>
                </a:solidFill>
                <a:latin typeface="Calibri"/>
              </a:rPr>
              <a:t>Geometry-dependent tensors improve EPC at 5×10⁻⁶ Å.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01768" y="3291839"/>
            <a:ext cx="283464" cy="283464"/>
          </a:xfrm>
          <a:prstGeom prst="roundRect">
            <a:avLst>
              <a:gd name="adj" fmla="val 8000"/>
            </a:avLst>
          </a:prstGeom>
          <a:solidFill>
            <a:srgbClr val="D9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1768" y="3328415"/>
            <a:ext cx="2834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68112" y="3273551"/>
            <a:ext cx="276148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1" i="0">
                <a:solidFill>
                  <a:srgbClr val="12224A"/>
                </a:solidFill>
                <a:latin typeface="Calibri"/>
              </a:rPr>
              <a:t>Ten tensor-training structures generalize broadly.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01768" y="4197096"/>
            <a:ext cx="283464" cy="283464"/>
          </a:xfrm>
          <a:prstGeom prst="roundRect">
            <a:avLst>
              <a:gd name="adj" fmla="val 8000"/>
            </a:avLst>
          </a:prstGeom>
          <a:solidFill>
            <a:srgbClr val="D9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01768" y="4233672"/>
            <a:ext cx="2834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68112" y="4178808"/>
            <a:ext cx="276148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1" i="0">
                <a:solidFill>
                  <a:srgbClr val="12224A"/>
                </a:solidFill>
                <a:latin typeface="Calibri"/>
              </a:rPr>
              <a:t>A 2×2×2 q grid resolves the long-wavelength polar limit.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" y="5980176"/>
            <a:ext cx="7022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0" i="1">
                <a:solidFill>
                  <a:srgbClr val="5A6B7B"/>
                </a:solidFill>
                <a:latin typeface="Calibri"/>
              </a:rPr>
              <a:t>Frozen and geometry-dependent tensor EPC differ by only 4.3×10⁻¹⁰ eV/Å on average.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6583680"/>
            <a:ext cx="5257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5A6B7B"/>
                </a:solidFill>
                <a:latin typeface="Calibri"/>
              </a:rPr>
              <a:t>JEREMIAH BAILEY  ·  SURF 2026  ·  BERNARDI GROUP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2" y="6583680"/>
            <a:ext cx="2926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40" b="0" i="0">
                <a:solidFill>
                  <a:srgbClr val="5A6B7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46888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C7293"/>
                </a:solidFill>
                <a:latin typeface="Calibr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8065008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2224A"/>
                </a:solidFill>
                <a:latin typeface="Cambria"/>
              </a:rPr>
              <a:t>Make the tensor effect measurable before scaling up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34440"/>
            <a:ext cx="8083296" cy="0"/>
          </a:xfrm>
          <a:prstGeom prst="line">
            <a:avLst/>
          </a:prstGeom>
          <a:ln w="1143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21040" y="274320"/>
            <a:ext cx="2743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A6B7B"/>
                </a:solidFill>
                <a:latin typeface="Calibr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99616"/>
            <a:ext cx="3840480" cy="162763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691639"/>
            <a:ext cx="402336" cy="402336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46504"/>
            <a:ext cx="40233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682495"/>
            <a:ext cx="2889504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2224A"/>
                </a:solidFill>
                <a:latin typeface="Cambria"/>
              </a:rPr>
              <a:t>Displacement sensitivity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121408"/>
            <a:ext cx="285292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5A6B7B"/>
                </a:solidFill>
                <a:latin typeface="Calibri"/>
              </a:rPr>
              <a:t>Repeat the response calculation over larger atomic steps to find where geometry-dependent tensors rise above numerical uncertainty.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499616"/>
            <a:ext cx="3840480" cy="162763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46320" y="1691639"/>
            <a:ext cx="402336" cy="402336"/>
          </a:xfrm>
          <a:prstGeom prst="roundRect">
            <a:avLst>
              <a:gd name="adj" fmla="val 8000"/>
            </a:avLst>
          </a:prstGeom>
          <a:solidFill>
            <a:srgbClr val="D9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746504"/>
            <a:ext cx="40233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1682495"/>
            <a:ext cx="2889504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2224A"/>
                </a:solidFill>
                <a:latin typeface="Cambria"/>
              </a:rPr>
              <a:t>More informative labels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121408"/>
            <a:ext cx="285292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5A6B7B"/>
                </a:solidFill>
                <a:latin typeface="Calibri"/>
              </a:rPr>
              <a:t>Add structures selected for displacement type, amplitude, and predicted response variation—not simply more random snapshots.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74720"/>
            <a:ext cx="3840480" cy="162763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" y="3666744"/>
            <a:ext cx="402336" cy="402336"/>
          </a:xfrm>
          <a:prstGeom prst="roundRect">
            <a:avLst>
              <a:gd name="adj" fmla="val 8000"/>
            </a:avLst>
          </a:prstGeom>
          <a:solidFill>
            <a:srgbClr val="17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721608"/>
            <a:ext cx="40233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657600"/>
            <a:ext cx="2889504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2224A"/>
                </a:solidFill>
                <a:latin typeface="Cambria"/>
              </a:rPr>
              <a:t>Matched model comparisons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4096511"/>
            <a:ext cx="285292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5A6B7B"/>
                </a:solidFill>
                <a:latin typeface="Calibri"/>
              </a:rPr>
              <a:t>Use the same initialization and split to isolate fixed physics, learned tensors, and direct Full-H training.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3474720"/>
            <a:ext cx="3840480" cy="162763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46320" y="3666744"/>
            <a:ext cx="402336" cy="402336"/>
          </a:xfrm>
          <a:prstGeom prst="roundRect">
            <a:avLst>
              <a:gd name="adj" fmla="val 8000"/>
            </a:avLst>
          </a:prstGeom>
          <a:solidFill>
            <a:srgbClr val="2D8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3721608"/>
            <a:ext cx="40233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3657600"/>
            <a:ext cx="2889504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2224A"/>
                </a:solidFill>
                <a:latin typeface="Cambria"/>
              </a:rPr>
              <a:t>Denser vibration grid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4096511"/>
            <a:ext cx="285292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5A6B7B"/>
                </a:solidFill>
                <a:latin typeface="Calibri"/>
              </a:rPr>
              <a:t>Resolve the long-wavelength polar limit after the tensor contribution is independently detectable.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8096" y="5650992"/>
            <a:ext cx="7607808" cy="475488"/>
          </a:xfrm>
          <a:prstGeom prst="roundRect">
            <a:avLst>
              <a:gd name="adj" fmla="val 8000"/>
            </a:avLst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769864"/>
            <a:ext cx="7168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1" i="0">
                <a:solidFill>
                  <a:srgbClr val="FFFFFF"/>
                </a:solidFill>
                <a:latin typeface="Calibri"/>
              </a:rPr>
              <a:t>Scientific decision gate: claim a tensor benefit only when learned − fixed exceeds finite-difference uncertainty reproducibly.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6583680"/>
            <a:ext cx="5257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5A6B7B"/>
                </a:solidFill>
                <a:latin typeface="Calibri"/>
              </a:rPr>
              <a:t>JEREMIAH BAILEY  ·  SURF 2026  ·  BERNARDI 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6583680"/>
            <a:ext cx="2926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40" b="0" i="0">
                <a:solidFill>
                  <a:srgbClr val="5A6B7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46888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C7293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8065008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2224A"/>
                </a:solidFill>
                <a:latin typeface="Cambria"/>
              </a:rPr>
              <a:t>Physics-guided learning improves response—even before tensors help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34440"/>
            <a:ext cx="8083296" cy="0"/>
          </a:xfrm>
          <a:prstGeom prst="line">
            <a:avLst/>
          </a:prstGeom>
          <a:ln w="1143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21040" y="274320"/>
            <a:ext cx="2743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A6B7B"/>
                </a:solidFill>
                <a:latin typeface="Calibr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90472"/>
            <a:ext cx="356616" cy="356616"/>
          </a:xfrm>
          <a:prstGeom prst="roundRect">
            <a:avLst>
              <a:gd name="adj" fmla="val 8000"/>
            </a:avLst>
          </a:prstGeom>
          <a:solidFill>
            <a:srgbClr val="17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45336"/>
            <a:ext cx="356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1481328"/>
            <a:ext cx="462686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30" b="1" i="0">
                <a:solidFill>
                  <a:srgbClr val="12224A"/>
                </a:solidFill>
                <a:latin typeface="Calibri"/>
              </a:rPr>
              <a:t>I built a shared model for local electronic structure, effective charge, and screening.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249424"/>
            <a:ext cx="356616" cy="356616"/>
          </a:xfrm>
          <a:prstGeom prst="roundRect">
            <a:avLst>
              <a:gd name="adj" fmla="val 8000"/>
            </a:avLst>
          </a:prstGeom>
          <a:solidFill>
            <a:srgbClr val="2D8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304288"/>
            <a:ext cx="356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3584" y="2240280"/>
            <a:ext cx="462686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30" b="1" i="0">
                <a:solidFill>
                  <a:srgbClr val="12224A"/>
                </a:solidFill>
                <a:latin typeface="Calibri"/>
              </a:rPr>
              <a:t>The new response heads beat constant baselines on locked structures.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008376"/>
            <a:ext cx="356616" cy="356616"/>
          </a:xfrm>
          <a:prstGeom prst="roundRect">
            <a:avLst>
              <a:gd name="adj" fmla="val 8000"/>
            </a:avLst>
          </a:prstGeom>
          <a:solidFill>
            <a:srgbClr val="D9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063240"/>
            <a:ext cx="356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3584" y="2999232"/>
            <a:ext cx="462686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30" b="1" i="0">
                <a:solidFill>
                  <a:srgbClr val="12224A"/>
                </a:solidFill>
                <a:latin typeface="Calibri"/>
              </a:rPr>
              <a:t>Direct Full-H wins on matrix values; both SR models win on atomic-motion response.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767327"/>
            <a:ext cx="356616" cy="356616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822191"/>
            <a:ext cx="356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758183"/>
            <a:ext cx="462686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30" b="1" i="0">
                <a:solidFill>
                  <a:srgbClr val="12224A"/>
                </a:solidFill>
                <a:latin typeface="Calibri"/>
              </a:rPr>
              <a:t>Learned tensors have not changed EPC at the present displacement sensitivity.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1481328"/>
            <a:ext cx="2359152" cy="358444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1773936"/>
            <a:ext cx="18836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2224A"/>
                </a:solidFill>
                <a:latin typeface="Cambria"/>
              </a:rPr>
              <a:t>Acknowledgments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386584"/>
            <a:ext cx="1847088" cy="2057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5A6B7B"/>
                </a:solidFill>
                <a:latin typeface="Calibri"/>
              </a:rPr>
              <a:t>Prof. Marco Benardi
Yao Luo, graduate mentor
WAVE at Caltech</a:t>
            </a:r>
          </a:p>
        </p:txBody>
      </p:sp>
      <p:pic>
        <p:nvPicPr>
          <p:cNvPr id="21" name="Picture 20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08" y="4443984"/>
            <a:ext cx="438912" cy="438912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841248" y="5047488"/>
            <a:ext cx="4937760" cy="649224"/>
          </a:xfrm>
          <a:prstGeom prst="roundRect">
            <a:avLst>
              <a:gd name="adj" fmla="val 8000"/>
            </a:avLst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5202936"/>
            <a:ext cx="44622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FFFFFF"/>
                </a:solidFill>
                <a:latin typeface="Calibri"/>
              </a:rPr>
              <a:t>The broader lesson: evaluate a scientific model on the physical response you care about—not only the values it fits.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5925312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C7293"/>
                </a:solidFill>
                <a:latin typeface="Cambria"/>
              </a:rPr>
              <a:t>Thank you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6583680"/>
            <a:ext cx="5257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5A6B7B"/>
                </a:solidFill>
                <a:latin typeface="Calibri"/>
              </a:rPr>
              <a:t>JEREMIAH BAILEY  ·  SURF 2026  ·  BERNARDI GROUP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6583680"/>
            <a:ext cx="2926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40" b="0" i="0">
                <a:solidFill>
                  <a:srgbClr val="5A6B7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0050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2224A"/>
                </a:solidFill>
                <a:latin typeface="Cambria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40050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C7293"/>
                </a:solidFill>
                <a:latin typeface="Cambria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93392"/>
            <a:ext cx="385876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2224A"/>
                </a:solidFill>
                <a:latin typeface="Cambria"/>
              </a:rPr>
              <a:t>Jeremiah Bailey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79192"/>
            <a:ext cx="376732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A6B7B"/>
                </a:solidFill>
                <a:latin typeface="Calibri"/>
              </a:rPr>
              <a:t>Please scan the QR code to leave
audience feedback for this talk.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904487"/>
            <a:ext cx="3621024" cy="566928"/>
          </a:xfrm>
          <a:prstGeom prst="roundRect">
            <a:avLst>
              <a:gd name="adj" fmla="val 8000"/>
            </a:avLst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4069080"/>
            <a:ext cx="32186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9" b="1" i="0">
                <a:solidFill>
                  <a:srgbClr val="FFFFFF"/>
                </a:solidFill>
                <a:latin typeface="Calibri"/>
              </a:rPr>
              <a:t>Your feedback will be shared after the presentations.</a:t>
            </a:r>
          </a:p>
        </p:txBody>
      </p:sp>
      <p:pic>
        <p:nvPicPr>
          <p:cNvPr id="9" name="Picture 8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4992624"/>
            <a:ext cx="566928" cy="56692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736592" y="658368"/>
            <a:ext cx="3749039" cy="5440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eedback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1504188"/>
            <a:ext cx="3749039" cy="37490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65192" y="6172200"/>
            <a:ext cx="32918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2224A"/>
                </a:solidFill>
                <a:latin typeface="Calibri"/>
              </a:rPr>
              <a:t>Audience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