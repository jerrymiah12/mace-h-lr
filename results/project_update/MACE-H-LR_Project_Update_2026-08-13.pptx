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0:00–0:30. The project has moved through three layers: I first tested the</a:t>
            </a:r>
          </a:p>
          <a:p>
            <a:r>
              <a:t>model machinery on bulk gold, then built and validated Cartesian</a:t>
            </a:r>
          </a:p>
          <a:p>
            <a:r>
              <a:t>electron–phonon coupling, and the MgO results exposed an architecture issue.</a:t>
            </a:r>
          </a:p>
          <a:p>
            <a:r>
              <a:t>The rest of the week is about correcting that issue with learned Born-charge</a:t>
            </a:r>
          </a:p>
          <a:p>
            <a:r>
              <a:t>and dielectric heads and leaving a reproducible handoff by August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0:30–1:10. Stage one was the gold machinery test. Stage two was the first</a:t>
            </a:r>
          </a:p>
          <a:p>
            <a:r>
              <a:t>end-to-end Cartesian-AO EPC calculation for MgO. That calculation did not</a:t>
            </a:r>
          </a:p>
          <a:p>
            <a:r>
              <a:t>just produce a metric—it changed the question. The remaining problem is not</a:t>
            </a:r>
          </a:p>
          <a:p>
            <a:r>
              <a:t>whether the plumbing runs; it is whether the training objective represents</a:t>
            </a:r>
          </a:p>
          <a:p>
            <a:r>
              <a:t>the intended composed long-range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1:10–2:00. This is the target architecture. The short-range Hamiltonian and</a:t>
            </a:r>
          </a:p>
          <a:p>
            <a:r>
              <a:t>the two response tensors depend on structure. The analytic long-range term is</a:t>
            </a:r>
          </a:p>
          <a:p>
            <a:r>
              <a:t>then reconstructed from the predicted Born charges and electronic dielectric</a:t>
            </a:r>
          </a:p>
          <a:p>
            <a:r>
              <a:t>tensor. Cartesian EPC is the derivative of this entire composition. A direct</a:t>
            </a:r>
          </a:p>
          <a:p>
            <a:r>
              <a:t>full-H network is a useful baseline, but it is not this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2:00–2:45. Both runs converged cleanly. On 37 held-out snapshots, the direct</a:t>
            </a:r>
          </a:p>
          <a:p>
            <a:r>
              <a:t>full-H model even had the lower matrix-element MAE, and both parity plots look</a:t>
            </a:r>
          </a:p>
          <a:p>
            <a:r>
              <a:t>nearly perfect. If I had stopped at Hamiltonian values, I would have concluded</a:t>
            </a:r>
          </a:p>
          <a:p>
            <a:r>
              <a:t>that the direct full-H baseline was better. EPC tests the local slope with</a:t>
            </a:r>
          </a:p>
          <a:p>
            <a:r>
              <a:t>respect to atomic displacement, which is a stricter observable.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2:45–3:35. Across the full 2×2×2 Cartesian-AO tensor, the SR checkpoint is at</a:t>
            </a:r>
          </a:p>
          <a:p>
            <a:r>
              <a:t>24.36 percent relative L2 while direct full-H is at 91.93 percent. At Gamma</a:t>
            </a:r>
          </a:p>
          <a:p>
            <a:r>
              <a:t>they are essentially tied: 6.07 versus 5.82 percent. The failure appears at</a:t>
            </a:r>
          </a:p>
          <a:p>
            <a:r>
              <a:t>nonzero q, where direct full-H both overestimates the coupling strength and</a:t>
            </a:r>
          </a:p>
          <a:p>
            <a:r>
              <a:t>has much larger relative error. This is the central experimental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3:35–4:20. I am not starting from an untested code path. Bulk gold exercised</a:t>
            </a:r>
          </a:p>
          <a:p>
            <a:r>
              <a:t>the model machinery first. For MgO, the Cartesian EPC reference uses twelve</a:t>
            </a:r>
          </a:p>
          <a:p>
            <a:r>
              <a:t>converged ABACUS calculations and contains 301,056 complex components. Doubling</a:t>
            </a:r>
          </a:p>
          <a:p>
            <a:r>
              <a:t>the DFT displacement changes the tensor by only 0.00656 percent, and the</a:t>
            </a:r>
          </a:p>
          <a:p>
            <a:r>
              <a:t>Hermiticity residual is 2.9 times 10 to the minus 11 of the tensor peak. These</a:t>
            </a:r>
          </a:p>
          <a:p>
            <a:r>
              <a:t>checks support the finite-difference and indexing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4:20–5:05. The audit is decisive. Both checkpoints have the same parameter</a:t>
            </a:r>
          </a:p>
          <a:p>
            <a:r>
              <a:t>count and neither contains a Born-charge or dielectric head. Direct full-H is</a:t>
            </a:r>
          </a:p>
          <a:p>
            <a:r>
              <a:t>an independently trained total-H predictor. The SR model gets fixed DFPT</a:t>
            </a:r>
          </a:p>
          <a:p>
            <a:r>
              <a:t>tensors through an external wrapper. Therefore the previous training did not</a:t>
            </a:r>
          </a:p>
          <a:p>
            <a:r>
              <a:t>test the proposed learned-tensor architecture. That is the correction I am</a:t>
            </a:r>
          </a:p>
          <a:p>
            <a:r>
              <a:t>making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5:05–5:45. The controlled A/B/D decomposition prevents an incorrect causal</a:t>
            </a:r>
          </a:p>
          <a:p>
            <a:r>
              <a:t>claim. A is the SR checkpoint alone, B adds fixed analytic LR, and D is direct</a:t>
            </a:r>
          </a:p>
          <a:p>
            <a:r>
              <a:t>full-H. A and B are visually and numerically identical on this 2×2×2 grid.</a:t>
            </a:r>
          </a:p>
          <a:p>
            <a:r>
              <a:t>The analytic correction is only 0.001606 percent of the residual needed to</a:t>
            </a:r>
          </a:p>
          <a:p>
            <a:r>
              <a:t>match DFT. The current advantage belongs to the SR checkpoint, not yet to the</a:t>
            </a:r>
          </a:p>
          <a:p>
            <a:r>
              <a:t>analytic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5:45–6:45. A continuous 25-point Mg-x scan explains the mismatch. Direct</a:t>
            </a:r>
          </a:p>
          <a:p>
            <a:r>
              <a:t>full-H has slightly better raw Hamiltonian MAE, but its central-slope RMSE is</a:t>
            </a:r>
          </a:p>
          <a:p>
            <a:r>
              <a:t>1.67 times worse. In 24.1 percent of matrix elements it is closer in H but</a:t>
            </a:r>
          </a:p>
          <a:p>
            <a:r>
              <a:t>worse in slope. The mechanism is plausible, but because these are independent</a:t>
            </a:r>
          </a:p>
          <a:p>
            <a:r>
              <a:t>training runs, matched-seed repeats or derivative-aware supervision are still</a:t>
            </a:r>
          </a:p>
          <a:p>
            <a:r>
              <a:t>needed to distinguish target design from ordinary training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6:45–8:00. This is the corrected implementation. A shared MACE-H backbone</a:t>
            </a:r>
          </a:p>
          <a:p>
            <a:r>
              <a:t>feeds three outputs: the short-range Hamiltonian, an atom-resolved Born-charge</a:t>
            </a:r>
          </a:p>
          <a:p>
            <a:r>
              <a:t>head with the acoustic sum rule enforced, and a global symmetric</a:t>
            </a:r>
          </a:p>
          <a:p>
            <a:r>
              <a:t>positive-definite electronic dielectric head. Those tensors feed a</a:t>
            </a:r>
          </a:p>
          <a:p>
            <a:r>
              <a:t>differentiable analytic long-range reconstruction. The training objective</a:t>
            </a:r>
          </a:p>
          <a:p>
            <a:r>
              <a:t>includes direct tensor supervision and full-H reconstruction; if schedule</a:t>
            </a:r>
          </a:p>
          <a:p>
            <a:r>
              <a:t>allows, I also want a finite-difference response-consistency term. The key</a:t>
            </a:r>
          </a:p>
          <a:p>
            <a:r>
              <a:t>ablation is A/B/C/D: SR only, fixed tensors, learned tensors, and direct full-H.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8:00–9:15. The critical path is: validate the fast tensor-label profile against</a:t>
            </a:r>
          </a:p>
          <a:p>
            <a:r>
              <a:t>the anchor, implement and test the two equivariant heads, run a joint-training</a:t>
            </a:r>
          </a:p>
          <a:p>
            <a:r>
              <a:t>smoke and matched-seed ablations, then evaluate in the order tensor accuracy,</a:t>
            </a:r>
          </a:p>
          <a:p>
            <a:r>
              <a:t>Hamiltonian reconstruction, Cartesian EPC. By August 20 I will leave clean</a:t>
            </a:r>
          </a:p>
          <a:p>
            <a:r>
              <a:t>interfaces, configs, tests, provenance, and a restartable runbook. I need the</a:t>
            </a:r>
          </a:p>
          <a:p>
            <a:r>
              <a:t>group to decide whether the continuation is primarily a paper result or a</a:t>
            </a:r>
          </a:p>
          <a:p>
            <a:r>
              <a:t>reusable platform, whether scope stays MgO-only, and whether the next compute</a:t>
            </a:r>
          </a:p>
          <a:p>
            <a:r>
              <a:t>budget goes to denser q or more tensor-labelled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9:15–10:00. The machinery and Cartesian EPC pipeline are complete. The key</a:t>
            </a:r>
          </a:p>
          <a:p>
            <a:r>
              <a:t>learning is that the previous direct full-H training was not the proposed</a:t>
            </a:r>
          </a:p>
          <a:p>
            <a:r>
              <a:t>long-range architecture. I am correcting that now with explicit Born-charge</a:t>
            </a:r>
          </a:p>
          <a:p>
            <a:r>
              <a:t>and dielectric heads plus analytic reconstruction. Before I leave, I want to</a:t>
            </a:r>
          </a:p>
          <a:p>
            <a:r>
              <a:t>deliver a tested minimum viable implementation and a handoff aligned with the</a:t>
            </a:r>
          </a:p>
          <a:p>
            <a:r>
              <a:t>group's preferred scientific direction. Then stop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The current result is a Cartesian atomic-orbital Hamiltonian</a:t>
            </a:r>
          </a:p>
          <a:p>
            <a:r>
              <a:t>derivative. It does not yet include phonon eigenvectors and frequencies,</a:t>
            </a:r>
          </a:p>
          <a:p>
            <a:r>
              <a:t>electronic eigenvectors, mass factors, or the overlap derivative, and the</a:t>
            </a:r>
          </a:p>
          <a:p>
            <a:r>
              <a:t>2×2×2 q grid is not a converged small-q study. The direction metric still</a:t>
            </a:r>
          </a:p>
          <a:p>
            <a:r>
              <a:t>shows a consistent checkpoint-level difference across Cartesian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A and B exist now and show that fixed LR is negligible on this grid.</a:t>
            </a:r>
          </a:p>
          <a:p>
            <a:r>
              <a:t>D is the current direct full-H baseline. C is the missing learned-tensor case.</a:t>
            </a:r>
          </a:p>
          <a:p>
            <a:r>
              <a:t>B minus A isolates the fixed analytic contribution; C minus A measures the</a:t>
            </a:r>
          </a:p>
          <a:p>
            <a:r>
              <a:t>effect of learned structure-dependent tensors; C versus D answers whether the</a:t>
            </a:r>
          </a:p>
          <a:p>
            <a:r>
              <a:t>composed objective improves the physical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If the week compresses, the minimum viable outcome is not the largest</a:t>
            </a:r>
          </a:p>
          <a:p>
            <a:r>
              <a:t>campaign. It is valid tensor labels, constrained heads, one matched A/B/C/D</a:t>
            </a:r>
          </a:p>
          <a:p>
            <a:r>
              <a:t>comparison, and a reproducible handoff. Band- and mode-resolved EPC, a large</a:t>
            </a:r>
          </a:p>
          <a:p>
            <a:r>
              <a:t>tensor dataset, and dense-q production can follow after ownership is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21792"/>
            <a:ext cx="1325880" cy="256032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30936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12224A"/>
                </a:solidFill>
                <a:latin typeface="Calibri"/>
              </a:rPr>
              <a:t>PROJECT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61288"/>
            <a:ext cx="7680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1" i="0">
                <a:solidFill>
                  <a:srgbClr val="FFFFFF"/>
                </a:solidFill>
                <a:latin typeface="Cambria"/>
              </a:rPr>
              <a:t>MACE-H-LR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83664"/>
            <a:ext cx="75438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CE6F5"/>
                </a:solidFill>
                <a:latin typeface="Cambria"/>
              </a:rPr>
              <a:t>From validated machinery to a physics-correct full-H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53512"/>
            <a:ext cx="7772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2C39A"/>
                </a:solidFill>
                <a:latin typeface="Calibri"/>
              </a:rPr>
              <a:t>Gold machinery  ✓   </a:t>
            </a:r>
            <a:r>
              <a:rPr sz="1400" b="1">
                <a:solidFill>
                  <a:srgbClr val="02C39A"/>
                </a:solidFill>
                <a:latin typeface="Calibri"/>
              </a:rPr>
              <a:t>Cartesian EPC  ✓   </a:t>
            </a:r>
            <a:r>
              <a:rPr sz="1400" b="1">
                <a:solidFill>
                  <a:srgbClr val="F5B65B"/>
                </a:solidFill>
                <a:latin typeface="Calibri"/>
              </a:rPr>
              <a:t>Learned Z* + ε∞ heads 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77639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6DE"/>
                </a:solidFill>
                <a:latin typeface="Calibri"/>
              </a:rPr>
              <a:t>SURF 2026  ·  Bernardi Group, Caltech  ·  August 13,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9C6DE"/>
                </a:solidFill>
                <a:latin typeface="Calibri"/>
              </a:rPr>
              <a:t>Handoff milestone: August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7293"/>
                </a:solidFill>
                <a:latin typeface="Calibri"/>
              </a:rPr>
              <a:t>PROJECT 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2224A"/>
                </a:solidFill>
                <a:latin typeface="Cambria"/>
              </a:rPr>
              <a:t>Three stages changed the question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97864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94192" y="28346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90472"/>
            <a:ext cx="2423160" cy="2432304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170078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4650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12848"/>
            <a:ext cx="2057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i="0">
                <a:solidFill>
                  <a:srgbClr val="12224A"/>
                </a:solidFill>
                <a:latin typeface="Cambria"/>
              </a:rPr>
              <a:t>Bulk 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7919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D8A66"/>
                </a:solidFill>
                <a:latin typeface="Calibri"/>
              </a:rPr>
              <a:t>MACHINERY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1752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Model + data path exercised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9815" y="2706624"/>
            <a:ext cx="219457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3246120" y="2647188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64992" y="1490472"/>
            <a:ext cx="2423160" cy="2432304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9584" y="170078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174650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212848"/>
            <a:ext cx="2057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i="0">
                <a:solidFill>
                  <a:srgbClr val="12224A"/>
                </a:solidFill>
                <a:latin typeface="Cambria"/>
              </a:rPr>
              <a:t>MgO Cartesian EPC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67919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77FB5"/>
                </a:solidFill>
                <a:latin typeface="Calibri"/>
              </a:rPr>
              <a:t>PHYSICS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301752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301,056 complex AO components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06440" y="2706624"/>
            <a:ext cx="219456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5952744" y="2647188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71616" y="1490472"/>
            <a:ext cx="2423160" cy="2432304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6207" y="170078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7" y="174650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7" y="2212848"/>
            <a:ext cx="2057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i="0">
                <a:solidFill>
                  <a:srgbClr val="12224A"/>
                </a:solidFill>
                <a:latin typeface="Cambria"/>
              </a:rPr>
              <a:t>Composed full-H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7" y="267919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D96000"/>
                </a:solidFill>
                <a:latin typeface="Calibri"/>
              </a:rPr>
              <a:t>CORRECTION IN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301752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Learn Z* and ε∞; reconstruct 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160520"/>
            <a:ext cx="7836408" cy="429768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261104"/>
            <a:ext cx="7452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Outcome so far: the pipeline is real; the bottleneck is now the model objective.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8289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MACE-H-LR  ·  PROJECT UPDATE  ·  13 AUG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8828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7293"/>
                </a:solidFill>
                <a:latin typeface="Calibri"/>
              </a:rPr>
              <a:t>PHYSICS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The intended model is composed—not a direct full-H fit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97864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94192" y="28346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7589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Hfull(R) = HSR(R) + HLR[R; Z*(R), ε∞(R)]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21408"/>
            <a:ext cx="1572768" cy="102412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224A"/>
                </a:solidFill>
                <a:latin typeface="Cambria"/>
              </a:rPr>
              <a:t>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79191"/>
            <a:ext cx="1389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positions + lattice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2121408"/>
            <a:ext cx="1444752" cy="102412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7752" y="2286000"/>
            <a:ext cx="1261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224A"/>
                </a:solidFill>
                <a:latin typeface="Cambria"/>
              </a:rPr>
              <a:t>MACE-H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679191"/>
            <a:ext cx="12618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shared equivariant backbone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2121408"/>
            <a:ext cx="1280160" cy="1024128"/>
          </a:xfrm>
          <a:prstGeom prst="roundRect">
            <a:avLst>
              <a:gd name="adj" fmla="val 8000"/>
            </a:avLst>
          </a:prstGeom>
          <a:solidFill>
            <a:srgbClr val="E7F2F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228600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77FB5"/>
                </a:solidFill>
                <a:latin typeface="Cambria"/>
              </a:rPr>
              <a:t>HSR 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2679191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local Hamiltonian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97296" y="2121408"/>
            <a:ext cx="1252728" cy="1024128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2286000"/>
            <a:ext cx="1069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D96000"/>
                </a:solidFill>
                <a:latin typeface="Cambria"/>
              </a:rPr>
              <a:t>Z* + ε∞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2679191"/>
            <a:ext cx="10698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tensor heads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121408"/>
            <a:ext cx="1225296" cy="1024128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286000"/>
            <a:ext cx="1042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D8A66"/>
                </a:solidFill>
                <a:latin typeface="Cambria"/>
              </a:rPr>
              <a:t>HLR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679191"/>
            <a:ext cx="104241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analytic physics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67128" y="2633472"/>
            <a:ext cx="274320" cy="0"/>
          </a:xfrm>
          <a:prstGeom prst="line">
            <a:avLst/>
          </a:prstGeom>
          <a:ln w="2794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2368296" y="2574036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959352" y="2423160"/>
            <a:ext cx="228600" cy="0"/>
          </a:xfrm>
          <a:prstGeom prst="line">
            <a:avLst/>
          </a:prstGeom>
          <a:ln w="2794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4114800" y="2363724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959352" y="2852928"/>
            <a:ext cx="1764792" cy="0"/>
          </a:xfrm>
          <a:prstGeom prst="line">
            <a:avLst/>
          </a:prstGeom>
          <a:ln w="2794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5650992" y="2793492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7068312" y="2633472"/>
            <a:ext cx="192024" cy="0"/>
          </a:xfrm>
          <a:prstGeom prst="line">
            <a:avLst/>
          </a:prstGeom>
          <a:ln w="2794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7187184" y="2574036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3575304"/>
            <a:ext cx="7589520" cy="667512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767328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Differentiate the reconstruction:  </a:t>
            </a:r>
            <a:r>
              <a:rPr sz="1500" b="1">
                <a:solidFill>
                  <a:srgbClr val="02C39A"/>
                </a:solidFill>
                <a:latin typeface="Calibri"/>
              </a:rPr>
              <a:t>∂Hfull/∂τ</a:t>
            </a:r>
            <a:r>
              <a:rPr sz="1300" b="1">
                <a:solidFill>
                  <a:srgbClr val="FFFFFF"/>
                </a:solidFill>
                <a:latin typeface="Calibri"/>
              </a:rPr>
              <a:t>  →  Cartesian EPC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40740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B7B"/>
                </a:solidFill>
                <a:latin typeface="Calibri"/>
              </a:rPr>
              <a:t>The network learns chemistry; the analytic term carries the nonlocal polar physics.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8289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MACE-H-LR  ·  PROJECT UPDATE  ·  13 AUG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8828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7293"/>
                </a:solidFill>
                <a:latin typeface="Calibri"/>
              </a:rPr>
              <a:t>INITIAL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Hamiltonian metrics looked excellent—and hid the response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97864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94192" y="28346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07592"/>
            <a:ext cx="3977639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21237"/>
            <a:ext cx="3977639" cy="15661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663440" y="1307592"/>
            <a:ext cx="3977639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471846"/>
            <a:ext cx="3977639" cy="166488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76656" y="3520440"/>
            <a:ext cx="2331720" cy="713232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611880"/>
            <a:ext cx="21122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D96000"/>
                </a:solidFill>
                <a:latin typeface="Cambria"/>
              </a:rPr>
              <a:t>0.294 meV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968496"/>
            <a:ext cx="21122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DIRECT FULL-H HELD-OUT MAE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9544" y="3520440"/>
            <a:ext cx="2468880" cy="713232"/>
          </a:xfrm>
          <a:prstGeom prst="roundRect">
            <a:avLst>
              <a:gd name="adj" fmla="val 8000"/>
            </a:avLst>
          </a:prstGeom>
          <a:solidFill>
            <a:srgbClr val="E7F2F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3611880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77FB5"/>
                </a:solidFill>
                <a:latin typeface="Cambria"/>
              </a:rPr>
              <a:t>0.389 meV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3968496"/>
            <a:ext cx="22494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LR-CORRECTED SR HELD-OUT MAE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9592" y="3520440"/>
            <a:ext cx="2578608" cy="7132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3611880"/>
            <a:ext cx="23591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C7293"/>
                </a:solidFill>
                <a:latin typeface="Cambria"/>
              </a:rPr>
              <a:t>≈ 0.99999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968496"/>
            <a:ext cx="2359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R² FOR BOTH MODELS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425696"/>
            <a:ext cx="7781544" cy="274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89704"/>
            <a:ext cx="74980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2224A"/>
                </a:solidFill>
                <a:latin typeface="Calibri"/>
              </a:rPr>
              <a:t>A low value loss does not guarantee an accurate displacement derivative.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8289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MACE-H-LR  ·  PROJECT UPDATE  ·  13 AUG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8828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7293"/>
                </a:solidFill>
                <a:latin typeface="Calibri"/>
              </a:rPr>
              <a:t>RESPONSE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Cartesian EPC exposed a finite-q failure in direct full-H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97864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94192" y="28346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252728"/>
            <a:ext cx="5852160" cy="33284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04527"/>
            <a:ext cx="5852160" cy="202481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37960" y="1417320"/>
            <a:ext cx="2057400" cy="713232"/>
          </a:xfrm>
          <a:prstGeom prst="roundRect">
            <a:avLst>
              <a:gd name="adj" fmla="val 8000"/>
            </a:avLst>
          </a:prstGeom>
          <a:solidFill>
            <a:srgbClr val="E7F2F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1508760"/>
            <a:ext cx="18379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77FB5"/>
                </a:solidFill>
                <a:latin typeface="Cambria"/>
              </a:rPr>
              <a:t>24.36%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7688" y="1865376"/>
            <a:ext cx="18379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SR-TARGET (+ FIXED LR) REL. L2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313432"/>
            <a:ext cx="2057400" cy="713232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2404872"/>
            <a:ext cx="18379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D96000"/>
                </a:solidFill>
                <a:latin typeface="Cambria"/>
              </a:rPr>
              <a:t>91.93%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761487"/>
            <a:ext cx="18379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DIRECT FULL-H REL. L2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255264"/>
            <a:ext cx="2057400" cy="1060704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4264" y="3410712"/>
            <a:ext cx="17647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2C39A"/>
                </a:solidFill>
                <a:latin typeface="Calibri"/>
              </a:rPr>
              <a:t>Γ is nearly tied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3730752"/>
            <a:ext cx="17647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The separation appears at nonzero q.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8289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MACE-H-LR  ·  PROJECT UPDATE  ·  13 AUG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8828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7293"/>
                </a:solidFill>
                <a:latin typeface="Calibr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The machinery is already tested: gold first, then Cartesian MgO EPC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97864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94192" y="28346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44168"/>
            <a:ext cx="2980944" cy="3191256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554480"/>
            <a:ext cx="804672" cy="256032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563624"/>
            <a:ext cx="8046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956816"/>
            <a:ext cx="24871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2224A"/>
                </a:solidFill>
                <a:latin typeface="Cambria"/>
              </a:rPr>
              <a:t>Bulk gold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41448"/>
            <a:ext cx="2514600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• MACE-H machinery test completed
• Nonpolar metallic case isolates implementation issues
• Established a trusted starting point before MgO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0752" y="1344168"/>
            <a:ext cx="48463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091" y="1344168"/>
            <a:ext cx="4311641" cy="26060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822191" y="4096512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4187952"/>
            <a:ext cx="1261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D8A66"/>
                </a:solidFill>
                <a:latin typeface="Cambria"/>
              </a:rPr>
              <a:t>0.00656%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544568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DFT STEP-SIZE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9824" y="4096512"/>
            <a:ext cx="1700784" cy="7132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9552" y="4187952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C7293"/>
                </a:solidFill>
                <a:latin typeface="Cambria"/>
              </a:rPr>
              <a:t>2.9×10⁻¹¹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2" y="4544568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WORST HERMITICITY / PEAK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4096512"/>
            <a:ext cx="1280160" cy="713232"/>
          </a:xfrm>
          <a:prstGeom prst="roundRect">
            <a:avLst>
              <a:gd name="adj" fmla="val 8000"/>
            </a:avLst>
          </a:prstGeom>
          <a:solidFill>
            <a:srgbClr val="E7F2F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4187952"/>
            <a:ext cx="10607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77FB5"/>
                </a:solidFill>
                <a:latin typeface="Cambria"/>
              </a:rPr>
              <a:t>301,056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544568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COMPLEX EPC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8289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MACE-H-LR  ·  PROJECT UPDATE  ·  13 AUG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8828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7293"/>
                </a:solidFill>
                <a:latin typeface="Calibri"/>
              </a:rPr>
              <a:t>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The previous “full-H” run was not the intended long-range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97864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94192" y="28346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61872"/>
            <a:ext cx="5349240" cy="3044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6246"/>
            <a:ext cx="5349240" cy="22762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89904" y="1408176"/>
            <a:ext cx="2487168" cy="3931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49047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D96000"/>
                </a:solidFill>
                <a:latin typeface="Calibri"/>
              </a:rPr>
              <a:t>Direct Full-H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8" y="149047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80" b="0" i="0">
                <a:solidFill>
                  <a:srgbClr val="243447"/>
                </a:solidFill>
                <a:latin typeface="Calibri"/>
              </a:rPr>
              <a:t>predicts total 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9904" y="1911095"/>
            <a:ext cx="2487168" cy="3931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99339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77FB5"/>
                </a:solidFill>
                <a:latin typeface="Calibri"/>
              </a:rPr>
              <a:t>SR checkpoint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328" y="1993391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80" b="0" i="0">
                <a:solidFill>
                  <a:srgbClr val="243447"/>
                </a:solidFill>
                <a:latin typeface="Calibri"/>
              </a:rPr>
              <a:t>predicts HSR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2414016"/>
            <a:ext cx="2487168" cy="3931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4963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B53A3A"/>
                </a:solidFill>
                <a:latin typeface="Calibri"/>
              </a:rPr>
              <a:t>Z* 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24963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80" b="0" i="0">
                <a:solidFill>
                  <a:srgbClr val="243447"/>
                </a:solidFill>
                <a:latin typeface="Calibri"/>
              </a:rPr>
              <a:t>absent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2916936"/>
            <a:ext cx="2487168" cy="3931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99923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B53A3A"/>
                </a:solidFill>
                <a:latin typeface="Calibri"/>
              </a:rPr>
              <a:t>ε∞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299923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80" b="0" i="0">
                <a:solidFill>
                  <a:srgbClr val="243447"/>
                </a:solidFill>
                <a:latin typeface="Calibri"/>
              </a:rPr>
              <a:t>absent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3419856"/>
            <a:ext cx="2487168" cy="3931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50215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2D8A66"/>
                </a:solidFill>
                <a:latin typeface="Calibri"/>
              </a:rPr>
              <a:t>LR wrapper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8" y="350215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80" b="0" i="0">
                <a:solidFill>
                  <a:srgbClr val="243447"/>
                </a:solidFill>
                <a:latin typeface="Calibri"/>
              </a:rPr>
              <a:t>fixed DFPT tensors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9904" y="4041648"/>
            <a:ext cx="2487168" cy="585216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4123944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learned-tensor case never existed in these checkpoints.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8289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MACE-H-LR  ·  PROJECT UPDATE  ·  13 AUG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8828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7293"/>
                </a:solidFill>
                <a:latin typeface="Calibri"/>
              </a:rPr>
              <a:t>CONTROLLED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The SR advantage is not yet an analytic long-range result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97864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94192" y="28346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3950208" cy="2980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mp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58641"/>
            <a:ext cx="3950208" cy="26605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690872" y="1298448"/>
            <a:ext cx="3950208" cy="2980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comp_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1458641"/>
            <a:ext cx="3950208" cy="26605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4352544"/>
            <a:ext cx="7827264" cy="329184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425696"/>
            <a:ext cx="7461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2C39A"/>
                </a:solidFill>
                <a:latin typeface="Calibri"/>
              </a:rPr>
              <a:t>A → B: </a:t>
            </a:r>
            <a:r>
              <a:rPr sz="1100" b="1">
                <a:solidFill>
                  <a:srgbClr val="FFFFFF"/>
                </a:solidFill>
                <a:latin typeface="Calibri"/>
              </a:rPr>
              <a:t>−0.000078 percentage points</a:t>
            </a:r>
            <a:r>
              <a:rPr sz="1100" b="0">
                <a:solidFill>
                  <a:srgbClr val="B9C6DE"/>
                </a:solidFill>
                <a:latin typeface="Calibri"/>
              </a:rPr>
              <a:t>   ·   analytic LR / needed residual: </a:t>
            </a:r>
            <a:r>
              <a:rPr sz="1100" b="1">
                <a:solidFill>
                  <a:srgbClr val="F5B65B"/>
                </a:solidFill>
                <a:latin typeface="Calibri"/>
              </a:rPr>
              <a:t>0.001606%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MACE-H-LR  ·  PROJECT UPDATE  ·  13 AUG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8828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7293"/>
                </a:solidFill>
                <a:latin typeface="Calibri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A model can match H while learning the wrong local slope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97864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94192" y="28346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07592"/>
            <a:ext cx="3794760" cy="2907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a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63841"/>
            <a:ext cx="3794760" cy="27952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80560" y="1307592"/>
            <a:ext cx="4160520" cy="2907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an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330" y="1307592"/>
            <a:ext cx="4026978" cy="29077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315968"/>
            <a:ext cx="7827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A6B7B"/>
                </a:solidFill>
                <a:latin typeface="Calibri"/>
              </a:rPr>
              <a:t>Direct full-H raw H MAE: </a:t>
            </a:r>
            <a:r>
              <a:rPr sz="1050" b="1">
                <a:solidFill>
                  <a:srgbClr val="D96000"/>
                </a:solidFill>
                <a:latin typeface="Calibri"/>
              </a:rPr>
              <a:t>0.785 meV</a:t>
            </a:r>
            <a:r>
              <a:rPr sz="1050" b="0">
                <a:solidFill>
                  <a:srgbClr val="5A6B7B"/>
                </a:solidFill>
                <a:latin typeface="Calibri"/>
              </a:rPr>
              <a:t>  vs SR </a:t>
            </a:r>
            <a:r>
              <a:rPr sz="1050" b="1">
                <a:solidFill>
                  <a:srgbClr val="177FB5"/>
                </a:solidFill>
                <a:latin typeface="Calibri"/>
              </a:rPr>
              <a:t>0.842 meV</a:t>
            </a:r>
            <a:r>
              <a:rPr sz="1050" b="0">
                <a:solidFill>
                  <a:srgbClr val="5A6B7B"/>
                </a:solidFill>
                <a:latin typeface="Calibri"/>
              </a:rPr>
              <a:t>   ·   Full/SR slope RMSE: </a:t>
            </a:r>
            <a:r>
              <a:rPr sz="1150" b="1">
                <a:solidFill>
                  <a:srgbClr val="B53A3A"/>
                </a:solidFill>
                <a:latin typeface="Calibri"/>
              </a:rPr>
              <a:t>1.67×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599432"/>
            <a:ext cx="782726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1">
                <a:solidFill>
                  <a:srgbClr val="5A6B7B"/>
                </a:solidFill>
                <a:latin typeface="Calibri"/>
              </a:rPr>
              <a:t>Matched-seed repeats or derivative-aware supervision are needed to separate target design from training variance.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MACE-H-LR  ·  PROJECT UPDATE  ·  13 AUG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8828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7293"/>
                </a:solidFill>
                <a:latin typeface="Calibri"/>
              </a:rPr>
              <a:t>CORRECTION IN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Train HSR, Z*, and ε∞ together—then reconstruct full 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97864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94192" y="28346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38528"/>
            <a:ext cx="1325880" cy="1005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2224A"/>
                </a:solidFill>
                <a:latin typeface="Cambria"/>
              </a:rPr>
              <a:t>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R, lattice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47088" y="2441448"/>
            <a:ext cx="283464" cy="0"/>
          </a:xfrm>
          <a:prstGeom prst="line">
            <a:avLst/>
          </a:prstGeom>
          <a:ln w="3048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2057400" y="2382012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85416" y="1682496"/>
            <a:ext cx="1298448" cy="1517904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4288" y="2020824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MACE-H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2468880"/>
            <a:ext cx="10607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B9C6DE"/>
                </a:solidFill>
                <a:latin typeface="Calibri"/>
              </a:rPr>
              <a:t>shared equivariant
backbone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502152" y="1554480"/>
            <a:ext cx="256031" cy="886968"/>
          </a:xfrm>
          <a:prstGeom prst="line">
            <a:avLst/>
          </a:prstGeom>
          <a:ln w="2159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3685031" y="1495044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22191" y="1234440"/>
            <a:ext cx="1444752" cy="658368"/>
          </a:xfrm>
          <a:prstGeom prst="roundRect">
            <a:avLst>
              <a:gd name="adj" fmla="val 8000"/>
            </a:avLst>
          </a:prstGeom>
          <a:solidFill>
            <a:srgbClr val="E7F2F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95344" y="1335024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77FB5"/>
                </a:solidFill>
                <a:latin typeface="Cambria"/>
              </a:rPr>
              <a:t>HSR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5344" y="1618488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local edge output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502152" y="2377440"/>
            <a:ext cx="256031" cy="64008"/>
          </a:xfrm>
          <a:prstGeom prst="line">
            <a:avLst/>
          </a:prstGeom>
          <a:ln w="2159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3685031" y="2318004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22191" y="2057400"/>
            <a:ext cx="1444752" cy="658368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95344" y="2157984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D96000"/>
                </a:solidFill>
                <a:latin typeface="Cambria"/>
              </a:rPr>
              <a:t>Z* 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5344" y="2441448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per atom · ASR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02152" y="2441448"/>
            <a:ext cx="256031" cy="758952"/>
          </a:xfrm>
          <a:prstGeom prst="line">
            <a:avLst/>
          </a:prstGeom>
          <a:ln w="2159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3685031" y="3140964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22191" y="2880360"/>
            <a:ext cx="1444752" cy="658368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95344" y="2980944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D8A66"/>
                </a:solidFill>
                <a:latin typeface="Cambria"/>
              </a:rPr>
              <a:t>ε∞ head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95344" y="3264408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global · SPD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30952" y="2377440"/>
            <a:ext cx="320040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5577840" y="2318004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05856" y="1737360"/>
            <a:ext cx="1353312" cy="1261872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15584" y="2029968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D8A66"/>
                </a:solidFill>
                <a:latin typeface="Cambria"/>
              </a:rPr>
              <a:t>Analytic HLR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5584" y="2432304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differentiable
reconstruction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095744" y="2377440"/>
            <a:ext cx="265176" cy="0"/>
          </a:xfrm>
          <a:prstGeom prst="line">
            <a:avLst/>
          </a:prstGeom>
          <a:ln w="29209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7287768" y="2318004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15783" y="1737360"/>
            <a:ext cx="1197864" cy="1261872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25512" y="2057400"/>
            <a:ext cx="9784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Hfull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2487168"/>
            <a:ext cx="9784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02C39A"/>
                </a:solidFill>
                <a:latin typeface="Calibri"/>
              </a:rPr>
              <a:t>+ Cartesian EPC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3950208"/>
            <a:ext cx="7955279" cy="603504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4133087"/>
            <a:ext cx="753465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2224A"/>
                </a:solidFill>
                <a:latin typeface="Calibri"/>
              </a:rPr>
              <a:t>Joint objective:  </a:t>
            </a:r>
            <a:r>
              <a:rPr sz="1100" b="1">
                <a:solidFill>
                  <a:srgbClr val="177FB5"/>
                </a:solidFill>
                <a:latin typeface="Calibri"/>
              </a:rPr>
              <a:t>LHSR</a:t>
            </a:r>
            <a:r>
              <a:rPr sz="1100" b="0">
                <a:solidFill>
                  <a:srgbClr val="5A6B7B"/>
                </a:solidFill>
                <a:latin typeface="Calibri"/>
              </a:rPr>
              <a:t> + </a:t>
            </a:r>
            <a:r>
              <a:rPr sz="1100" b="1">
                <a:solidFill>
                  <a:srgbClr val="D96000"/>
                </a:solidFill>
                <a:latin typeface="Calibri"/>
              </a:rPr>
              <a:t>LZ*</a:t>
            </a:r>
            <a:r>
              <a:rPr sz="1100" b="0">
                <a:solidFill>
                  <a:srgbClr val="5A6B7B"/>
                </a:solidFill>
                <a:latin typeface="Calibri"/>
              </a:rPr>
              <a:t> + </a:t>
            </a:r>
            <a:r>
              <a:rPr sz="1100" b="1">
                <a:solidFill>
                  <a:srgbClr val="2D8A66"/>
                </a:solidFill>
                <a:latin typeface="Calibri"/>
              </a:rPr>
              <a:t>Lε∞</a:t>
            </a:r>
            <a:r>
              <a:rPr sz="1100" b="0">
                <a:solidFill>
                  <a:srgbClr val="5A6B7B"/>
                </a:solidFill>
                <a:latin typeface="Calibri"/>
              </a:rPr>
              <a:t> + </a:t>
            </a:r>
            <a:r>
              <a:rPr sz="1100" b="1">
                <a:solidFill>
                  <a:srgbClr val="12224A"/>
                </a:solidFill>
                <a:latin typeface="Calibri"/>
              </a:rPr>
              <a:t>LHfull reconstruction</a:t>
            </a:r>
            <a:r>
              <a:rPr sz="1100" b="1">
                <a:solidFill>
                  <a:srgbClr val="B53A3A"/>
                </a:solidFill>
                <a:latin typeface="Calibri"/>
              </a:rPr>
              <a:t> + response consistency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88289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MACE-H-LR  ·  PROJECT UPDATE  ·  13 AUG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48828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7293"/>
                </a:solidFill>
                <a:latin typeface="Calibri"/>
              </a:rPr>
              <a:t>NEXT STEPS +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What I will finish before August 20—and what the group should decide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97864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94192" y="28346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6384" y="1938528"/>
            <a:ext cx="7424928" cy="0"/>
          </a:xfrm>
          <a:prstGeom prst="line">
            <a:avLst/>
          </a:prstGeom>
          <a:ln w="381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94944" y="17647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4416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C7293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267712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1C7293"/>
                </a:solidFill>
                <a:latin typeface="Calibri"/>
              </a:rPr>
              <a:t>ALIGN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578608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5A6B7B"/>
                </a:solidFill>
                <a:latin typeface="Calibri"/>
              </a:rPr>
              <a:t>objective + success gates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9112" y="17647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2807" y="134416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6000"/>
                </a:solidFill>
                <a:latin typeface="Calibri"/>
              </a:rPr>
              <a:t>14–15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2267712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D96000"/>
                </a:solidFill>
                <a:latin typeface="Calibri"/>
              </a:rPr>
              <a:t>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3" y="2578608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5A6B7B"/>
                </a:solidFill>
                <a:latin typeface="Calibri"/>
              </a:rPr>
              <a:t>54-atom Z*/ε∞ fast-vs-anchor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7647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6976" y="134416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77FB5"/>
                </a:solidFill>
                <a:latin typeface="Calibri"/>
              </a:rPr>
              <a:t>15–17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816" y="2267712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177FB5"/>
                </a:solidFill>
                <a:latin typeface="Calibri"/>
              </a:rP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2578608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5A6B7B"/>
                </a:solidFill>
                <a:latin typeface="Calibri"/>
              </a:rPr>
              <a:t>heads, loader, constraints,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27448" y="17647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B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134416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B53A3A"/>
                </a:solidFill>
                <a:latin typeface="Calibri"/>
              </a:rPr>
              <a:t>17–18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2267712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B53A3A"/>
                </a:solidFill>
                <a:latin typeface="Calibri"/>
              </a:rPr>
              <a:t>TRAIN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578608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5A6B7B"/>
                </a:solidFill>
                <a:latin typeface="Calibri"/>
              </a:rPr>
              <a:t>joint smoke + matched-seed ablations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71616" y="17647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134416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D8A66"/>
                </a:solidFill>
                <a:latin typeface="Calibri"/>
              </a:rPr>
              <a:t>18–19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8152" y="2267712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2D8A66"/>
                </a:solidFill>
                <a:latin typeface="Calibri"/>
              </a:rPr>
              <a:t>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7568" y="2578608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5A6B7B"/>
                </a:solidFill>
                <a:latin typeface="Calibri"/>
              </a:rPr>
              <a:t>tensor → H → Cartesian EPC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15783" y="17647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134416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2224A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267712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12224A"/>
                </a:solidFill>
                <a:latin typeface="Calibri"/>
              </a:rPr>
              <a:t>HANDOFF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1736" y="2578608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5A6B7B"/>
                </a:solidFill>
                <a:latin typeface="Calibri"/>
              </a:rPr>
              <a:t>refactor, provenance, runbook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438144"/>
            <a:ext cx="3822191" cy="106984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62102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C7293"/>
                </a:solidFill>
                <a:latin typeface="Calibri"/>
              </a:rPr>
              <a:t>LEAVE BEHIND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3877056"/>
            <a:ext cx="340156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2224A"/>
                </a:solidFill>
                <a:latin typeface="Calibri"/>
              </a:rPr>
              <a:t>Clean physics interfaces · tensor-head configs · A/B/C/D evaluation · tests · frozen provenance · restartable runbook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90288" y="3438144"/>
            <a:ext cx="3986784" cy="1069848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91456" y="3621024"/>
            <a:ext cx="22677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2C39A"/>
                </a:solidFill>
                <a:latin typeface="Calibri"/>
              </a:rPr>
              <a:t>GROUP DECISIONS BEFORE AUG 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1456" y="3877056"/>
            <a:ext cx="356616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Paper result or reusable platform?  ·  MgO-only or multi-material?  ·  Denser-q EPC or more tensor labels?  ·  Who owns the next campaign?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8289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MACE-H-LR  ·  PROJECT UPDATE  ·  13 AUG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8828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89888"/>
            <a:ext cx="329184" cy="329184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435608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222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8074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DCE6F5"/>
                </a:solidFill>
                <a:latin typeface="Calibri"/>
              </a:rPr>
              <a:t>The model machinery has been tested on bulk gold.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2011680"/>
            <a:ext cx="329184" cy="329184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057400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2224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02536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DCE6F5"/>
                </a:solidFill>
                <a:latin typeface="Calibri"/>
              </a:rPr>
              <a:t>Cartesian MgO EPC works—and revealed a finite-q response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633472"/>
            <a:ext cx="329184" cy="329184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679191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2224A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624328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DCE6F5"/>
                </a:solidFill>
                <a:latin typeface="Calibri"/>
              </a:rPr>
              <a:t>The old direct full-H run did not contain Z* or ε∞ heads.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325526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300984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2224A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46120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DCE6F5"/>
                </a:solidFill>
                <a:latin typeface="Calibri"/>
              </a:rPr>
              <a:t>The correction is a composed model: HSR + learned tensors + analytic HLR.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3877056"/>
            <a:ext cx="329184" cy="329184"/>
          </a:xfrm>
          <a:prstGeom prst="roundRect">
            <a:avLst>
              <a:gd name="adj" fmla="val 8000"/>
            </a:avLst>
          </a:prstGeom>
          <a:solidFill>
            <a:srgbClr val="B9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922776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2224A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867912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By Aug 20: tested MVP, refactored code, reproducible handoff, and an agreed next owner/scope.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7772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2C39A"/>
                </a:solidFill>
                <a:latin typeface="Calibri"/>
              </a:rPr>
              <a:t>Questions  ·  priorities for the final week?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7293"/>
                </a:solidFill>
                <a:latin typeface="Calibri"/>
              </a:rPr>
              <a:t>BACKUP ·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What the current EPC tensor does—and does not—establish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97864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94192" y="28346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5349240" cy="3127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53704"/>
            <a:ext cx="5349240" cy="20167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08192" y="1307592"/>
            <a:ext cx="2468880" cy="3118104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0216" y="1517904"/>
            <a:ext cx="987552" cy="256032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216" y="152704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ESTABLISHED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1901952"/>
            <a:ext cx="2048256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43447"/>
                </a:solidFill>
                <a:latin typeface="Calibri"/>
              </a:rPr>
              <a:t>• Cartesian AO dH/dτ
• 2×2×2 k/q grid
• 2 atoms × 3 directions
• finite-difference + Hermiticity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216" y="3136392"/>
            <a:ext cx="749808" cy="256032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3145536"/>
            <a:ext cx="749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NOT YET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3502152"/>
            <a:ext cx="204825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7B"/>
                </a:solidFill>
                <a:latin typeface="Calibri"/>
              </a:rPr>
              <a:t>• band/mode-resolved EPC
• phonons + mass/frequency factors
• dS/dτ contribution
• converged small-q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8289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MACE-H-LR  ·  PROJECT UPDATE  ·  13 AUG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8828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7293"/>
                </a:solidFill>
                <a:latin typeface="Calibri"/>
              </a:rPr>
              <a:t>BACKUP · 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The comparison that will isolate the learned-tensor contribution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97864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94192" y="28346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417320"/>
            <a:ext cx="1773936" cy="2286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1848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57984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224A"/>
                </a:solidFill>
                <a:latin typeface="Cambria"/>
              </a:rPr>
              <a:t>SR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5" y="2752344"/>
            <a:ext cx="841248" cy="256032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2761487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82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dHSR/dτ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1417320"/>
            <a:ext cx="1773936" cy="2286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88920" y="161848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664208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157984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224A"/>
                </a:solidFill>
                <a:latin typeface="Cambria"/>
              </a:rPr>
              <a:t>SR + fixed LR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9815" y="2752344"/>
            <a:ext cx="841248" cy="256032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9815" y="2761487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182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uses DFPT Z*, ε∞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36592" y="1417320"/>
            <a:ext cx="1773936" cy="2286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92040" y="161848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1664208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157984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224A"/>
                </a:solidFill>
                <a:latin typeface="Cambria"/>
              </a:rPr>
              <a:t>SR + learned LR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02936" y="2752344"/>
            <a:ext cx="841248" cy="256032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2936" y="2761487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182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predicted Z*, ε∞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39712" y="1417320"/>
            <a:ext cx="1773936" cy="2286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95160" y="161848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B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1664208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157984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224A"/>
                </a:solidFill>
                <a:latin typeface="Cambria"/>
              </a:rPr>
              <a:t>Direct full-H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06056" y="2752344"/>
            <a:ext cx="841248" cy="256032"/>
          </a:xfrm>
          <a:prstGeom prst="roundRect">
            <a:avLst>
              <a:gd name="adj" fmla="val 8000"/>
            </a:avLst>
          </a:prstGeom>
          <a:solidFill>
            <a:srgbClr val="B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06056" y="2761487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182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independent total-H fit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032504"/>
            <a:ext cx="7772400" cy="548640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215384"/>
            <a:ext cx="7406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 − A isolates fixed analytic LR   ·   C − A isolates learned tensors   ·   C vs D tests the composed objective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8289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MACE-H-LR  ·  PROJECT UPDATE  ·  13 AUG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8828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7293"/>
                </a:solidFill>
                <a:latin typeface="Calibri"/>
              </a:rPr>
              <a:t>BACKUP ·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2224A"/>
                </a:solidFill>
                <a:latin typeface="Cambria"/>
              </a:rPr>
              <a:t>If time compresses, preserve the causal test and the handoff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97864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94192" y="28346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B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353312"/>
            <a:ext cx="1417320" cy="438912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72184"/>
            <a:ext cx="119786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47672" y="1353312"/>
            <a:ext cx="3291840" cy="438912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472184"/>
            <a:ext cx="30723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Must finish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39512" y="1353312"/>
            <a:ext cx="3456432" cy="438912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472184"/>
            <a:ext cx="323697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Can defer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20240"/>
            <a:ext cx="1417320" cy="658368"/>
          </a:xfrm>
          <a:prstGeom prst="rect">
            <a:avLst/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47672" y="1920240"/>
            <a:ext cx="32918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9512" y="1920240"/>
            <a:ext cx="345643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112264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C7293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2264" y="2075688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2224A"/>
                </a:solidFill>
                <a:latin typeface="Calibri"/>
              </a:rPr>
              <a:t>Tensor-label validity + constrained heads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2392" y="2075688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Large tensor-label campaign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2724912"/>
            <a:ext cx="1417320" cy="658368"/>
          </a:xfrm>
          <a:prstGeom prst="rect">
            <a:avLst/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47672" y="2724912"/>
            <a:ext cx="32918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39512" y="2724912"/>
            <a:ext cx="345643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916936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C7293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12264" y="2880360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2224A"/>
                </a:solidFill>
                <a:latin typeface="Calibri"/>
              </a:rPr>
              <a:t>A/B/C/D matched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2880360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Band/mode projection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3529584"/>
            <a:ext cx="1417320" cy="658368"/>
          </a:xfrm>
          <a:prstGeom prst="rect">
            <a:avLst/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47672" y="3529584"/>
            <a:ext cx="32918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39512" y="3529584"/>
            <a:ext cx="345643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72160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C7293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12264" y="3685032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2224A"/>
                </a:solidFill>
                <a:latin typeface="Calibri"/>
              </a:rPr>
              <a:t>Restartable code, tests, provenance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2392" y="3685032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Converged dense-q production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553712"/>
            <a:ext cx="7900416" cy="228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599432"/>
            <a:ext cx="76626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12224A"/>
                </a:solidFill>
                <a:latin typeface="Calibri"/>
              </a:rPr>
              <a:t>Minimum viable handoff: one correct learned-tensor checkpoint + an experiment someone else can reproduce.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8289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MACE-H-LR  ·  PROJECT UPDATE  ·  13 AUG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8828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B7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