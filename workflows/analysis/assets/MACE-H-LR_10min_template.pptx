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0:00–0:30. One sentence: I am teaching a neural network to predict the quantities that control how electrons scatter off lattice vibrations at long range — so we can skip the expensive first-principles calculation.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0:30–1:15. Keep this fast — the audience needs one reason to care. Replace the three examples with whichever are closest to your group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1:15-2:15. The number is real and citable: a full DFPT response calculation on a 16-atom supercell runs 10 to over 100 CPU-days, while model inference on the same quantities finishes in under a minute. Say "four to five orders of magnitude" rather than reading both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2:15–3:15. This is the pivot of the whole talk: because the long-range part has a closed form, we only need to learn a handful of tensors, not the full coupling.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3:15–4:00. Emphasize the division of labor: NN does the chemistry, the analytic formula does the singular long-range physics.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4:00–5:00. This is your most technical slide. Do not read the irreps aloud — say "each tensor has a known symmetry decomposition, and e3nn lets us build heads that respect it exactly."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5:00–5:45. Be generous about prior work — the contribution is the end-to-end path to e–ph, not a claim that others got it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5:45-6:45. Lead with gold. A null test that has to come out trivially is the cheapest way to catch a sign error, a unit error, or a bad reciprocal set — and it costs nothing to explain. Then MgO is where the LR term actually has to do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6:45–7:30. Faculty love this slide. It shows you know what could go wrong and planned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7:30-8:15. Be plain that the current work is data infrastructure, not model training. That is the honest status and it sets up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8:15-9:00. The "here" markers are the point of this slide — the audience should leave knowing exactly what is built, what is running, and what is still ahead. Move them before you present.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9:00–10:00. Land on the takeaways, then stop talking. Leave at least 30 seconds of silence for questions rather than filling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presented — keep after the takeaways slide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777240"/>
            <a:ext cx="1828800" cy="310896"/>
          </a:xfrm>
          <a:prstGeom prst="roundRect">
            <a:avLst>
              <a:gd name="adj" fmla="val 29412"/>
            </a:avLst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77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MACE-H-LR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221284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material response tensors for long-range</a:t>
            </a:r>
            <a:endParaRPr lang="en-US" sz="18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electron–phonon coupling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" y="3246120"/>
            <a:ext cx="1280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45643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Bernardi Group · Caltech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B9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[name]   |  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Electron–phonon coupling sets material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804672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82496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61848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mobility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89280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charge moves through a semiconductor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14016"/>
            <a:ext cx="804672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615184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55117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82549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strength in conventional superconductors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8046720" cy="786384"/>
          </a:xfrm>
          <a:prstGeom prst="roundRect">
            <a:avLst>
              <a:gd name="adj" fmla="val 6977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4787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48386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Hot-carrier relaxation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375818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loss channels in photovoltaics &amp; devices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3708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e–ph coupling is the bottleneck quantity in all three.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standard route is accurate but expensive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2651760"/>
          </a:xfrm>
          <a:prstGeom prst="roundRect">
            <a:avLst>
              <a:gd name="adj" fmla="val 2069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2763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accuracy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calculation per material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poorly with system size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us to small unit cells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3840480" cy="2651760"/>
          </a:xfrm>
          <a:prstGeom prst="roundRect">
            <a:avLst>
              <a:gd name="adj" fmla="val 2069"/>
            </a:avLst>
          </a:prstGeom>
          <a:solidFill>
            <a:srgbClr val="12224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66420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10–100+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937760" y="2377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CPU-days for one DFPT response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on a 16-atom cell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3035808"/>
            <a:ext cx="2377440" cy="0"/>
          </a:xfrm>
          <a:prstGeom prst="line">
            <a:avLst/>
          </a:prstGeom>
          <a:noFill/>
          <a:ln w="12700">
            <a:solidFill>
              <a:srgbClr val="3E5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minute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377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trained model to infer the same tensors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279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Timings for Raman/dielectric response via DFPT vs. equivariant model inference — Grumet et al., J. Phys. Condens. Matter 36 (2024).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range is the hard part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e–ph matrix element splits into two pieces: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range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decays quickly — machine learning already handles this well.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83080"/>
            <a:ext cx="3840480" cy="1965960"/>
          </a:xfrm>
          <a:prstGeom prst="roundRect">
            <a:avLst>
              <a:gd name="adj" fmla="val 2791"/>
            </a:avLst>
          </a:prstGeom>
          <a:solidFill>
            <a:srgbClr val="1222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range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331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Dipole &amp; quadrupole tails from lattice polarization. Diverges as q→0. Must be handled analytically.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 form needs only three tensors:  Z*  (Born charges),  ε∞  (dielectric),  Q  (quadrupoles)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the tensors, not the coupling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28800" cy="1691640"/>
          </a:xfrm>
          <a:prstGeom prst="roundRect">
            <a:avLst>
              <a:gd name="adj" fmla="val 3243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745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233172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positions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lattice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32304" y="2359152"/>
            <a:ext cx="292608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2633472" y="1645920"/>
            <a:ext cx="1828800" cy="1691640"/>
          </a:xfrm>
          <a:prstGeom prst="roundRect">
            <a:avLst>
              <a:gd name="adj" fmla="val 3243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8745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MACE-H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0" y="233172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Equivariant NN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17136" y="2359152"/>
            <a:ext cx="292608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4718304" y="1645920"/>
            <a:ext cx="1828800" cy="1691640"/>
          </a:xfrm>
          <a:prstGeom prst="roundRect">
            <a:avLst>
              <a:gd name="adj" fmla="val 3243"/>
            </a:avLst>
          </a:prstGeom>
          <a:solidFill>
            <a:srgbClr val="F4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8745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Z*, ε∞ (, Q)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28032" y="233172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Equivariant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 heads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01968" y="2359152"/>
            <a:ext cx="292608" cy="256032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803136" y="1645920"/>
            <a:ext cx="1828800" cy="1691640"/>
          </a:xfrm>
          <a:prstGeom prst="roundRect">
            <a:avLst>
              <a:gd name="adj" fmla="val 3243"/>
            </a:avLst>
          </a:prstGeom>
          <a:solidFill>
            <a:srgbClr val="12224A"/>
          </a:solidFill>
          <a:ln/>
        </p:spPr>
      </p:sp>
      <p:sp>
        <p:nvSpPr>
          <p:cNvPr id="17" name="Text 15"/>
          <p:cNvSpPr/>
          <p:nvPr/>
        </p:nvSpPr>
        <p:spPr>
          <a:xfrm>
            <a:off x="6912864" y="187452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g_long-range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12864" y="2331720"/>
            <a:ext cx="16093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of the tensors is exact physics — the network never has to learn the divergence.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Equivariance is enforced, not learned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tensor decomposes into irreducible representations, so the readout heads output the right symmetry by construction: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122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Z*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2167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effective charges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2167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⊕ 1e ⊕ 2e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2139696"/>
            <a:ext cx="1097280" cy="310896"/>
          </a:xfrm>
          <a:prstGeom prst="roundRect">
            <a:avLst>
              <a:gd name="adj" fmla="val 29412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0" y="21396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95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ε∞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dielectric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2944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⊕ 2e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2916936"/>
            <a:ext cx="1097280" cy="310896"/>
          </a:xfrm>
          <a:prstGeom prst="roundRect">
            <a:avLst>
              <a:gd name="adj" fmla="val 29412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29169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66674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 quadrupoles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3721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1o ⊕ 1o ⊕ 2o ⊕ 3o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23760" y="3694176"/>
            <a:ext cx="1097280" cy="310896"/>
          </a:xfrm>
          <a:prstGeom prst="roundRect">
            <a:avLst>
              <a:gd name="adj" fmla="val 29412"/>
            </a:avLst>
          </a:prstGeom>
          <a:solidFill>
            <a:srgbClr val="D8E0EA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36941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3708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hard constraint: the acoustic sum rule on Z* is enforced after prediction.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adds to existing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frameworks (e.g. Falletta et al.)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3840480" cy="2286000"/>
          </a:xfrm>
          <a:prstGeom prst="roundRect">
            <a:avLst>
              <a:gd name="adj" fmla="val 2400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Z* learned directly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derived post-hoc from polarizability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not learned at all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downstream e–ph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MACE-H-LR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755648"/>
            <a:ext cx="3840480" cy="2286000"/>
          </a:xfrm>
          <a:prstGeom prst="roundRect">
            <a:avLst>
              <a:gd name="adj" fmla="val 2400"/>
            </a:avLst>
          </a:prstGeom>
          <a:solidFill>
            <a:srgbClr val="1222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96596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Tensors as first-class targets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Coupling derived from the Hamiltonian output, not new heads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Z*, ε∞ feed the polar correction — no fixed DFPT inputs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systems, two different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0" cy="2697480"/>
          </a:xfrm>
          <a:prstGeom prst="roundRect">
            <a:avLst>
              <a:gd name="adj" fmla="val 2034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1417320" cy="310896"/>
          </a:xfrm>
          <a:prstGeom prst="roundRect">
            <a:avLst>
              <a:gd name="adj" fmla="val 29412"/>
            </a:avLst>
          </a:prstGeom>
          <a:solidFill>
            <a:srgbClr val="D8E0E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TEST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gold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metal: free carriers screen the dipole field, so there is no long-range term to learn.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H_SR  must equal  H_full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 not, the pipeline is wrong before any physics is at stake.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2697480"/>
          </a:xfrm>
          <a:prstGeom prst="roundRect">
            <a:avLst>
              <a:gd name="adj" fmla="val 2034"/>
            </a:avLst>
          </a:prstGeom>
          <a:solidFill>
            <a:srgbClr val="12224A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3480" y="1600200"/>
            <a:ext cx="1691640" cy="310896"/>
          </a:xfrm>
          <a:prstGeom prst="roundRect">
            <a:avLst>
              <a:gd name="adj" fmla="val 29412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600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MgO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245059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and centrosymmetric: the LR term is large, and Q vanishes by symmetry — isolating Z* and ε∞.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182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H_SR  measurably more local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against equilibrium DFPT and the odd part of the DFT response.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proves the machinery is correct. MgO proves it is useful.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/ no-go before any network is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87752" cy="2377440"/>
          </a:xfrm>
          <a:prstGeom prst="roundRect">
            <a:avLst>
              <a:gd name="adj" fmla="val 2308"/>
            </a:avLst>
          </a:prstGeom>
          <a:solidFill>
            <a:srgbClr val="F4F7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Noise-injection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077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tensor error can the final coupling tolerate? Sets the accuracy target.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19272" y="1508760"/>
            <a:ext cx="2587752" cy="2377440"/>
          </a:xfrm>
          <a:prstGeom prst="roundRect">
            <a:avLst>
              <a:gd name="adj" fmla="val 2308"/>
            </a:avLst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17373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2677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δQ smallness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47872" y="29077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quadrupoles can be deferred without breaking the centrosymmetric result.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9904" y="1508760"/>
            <a:ext cx="2587752" cy="2377440"/>
          </a:xfrm>
          <a:prstGeom prst="roundRect">
            <a:avLst>
              <a:gd name="adj" fmla="val 2308"/>
            </a:avLst>
          </a:prstGeom>
          <a:solidFill>
            <a:srgbClr val="F4F7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318504" y="1737360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318504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8504" y="226771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</a:t>
            </a:r>
            <a:endParaRPr lang="en-US" sz="16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18504" y="29077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known DFPT e–ph for the test system through the existing pipeline.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gate fails, the scope narrows rather than the project failing.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now: building the dataset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840480" cy="260604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MACE implementation (A-features, symmetric contraction, equivariance verified)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Irrep decompositions worked out in e3nn for all three tensors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fork of MACE-H on branch epc-cartesian-coupling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MgO LR dataset-generation pipeline designed and under 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91640"/>
            <a:ext cx="3840480" cy="2606040"/>
          </a:xfrm>
          <a:prstGeom prst="roundRect">
            <a:avLst>
              <a:gd name="adj" fmla="val 2105"/>
            </a:avLst>
          </a:prstGeom>
          <a:solidFill>
            <a:srgbClr val="F4F7F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8745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SVD factorization to supervise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/ rotation ambiguity of raw SVD factors as targets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Wannier gauge consistency across training structures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1D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Ewald filter width Λ — frozen only after the 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is trained until the dataset is proven correct.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stage gates the next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80744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80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344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tests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3677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pipeline exercised on fabricated snapshots — before a single DFT job runs.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18120" y="138074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here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002536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02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965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12–20 snapshot pilot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25856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Equilibrium, pure translation, sign pairs, amplitude ladders, longitudinal and transverse finite-q.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18120" y="20025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here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24328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D8E0E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2587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LR definition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15568" y="28803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Hermiticity, reconstruction, reciprocal convergence, small-amplitude linearity. Then freeze Λ.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D8E0E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3209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~400-structure dataset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15568" y="35021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separate large-cell set to test extrapolation beyond the training supercell.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67912"/>
            <a:ext cx="384048" cy="384048"/>
          </a:xfrm>
          <a:prstGeom prst="roundRect">
            <a:avLst>
              <a:gd name="adj" fmla="val 26190"/>
            </a:avLst>
          </a:prstGeom>
          <a:solidFill>
            <a:srgbClr val="D8E0E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867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8313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15568" y="412394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MACE-H on the SR target; reconstruct e–ph and compare against DFPT.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gate narrows the scope; it does not restart the project.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527048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07008" y="15087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e–ph coupling has a closed analytic form — we only need to learn Z* and ε∞.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85416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216712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Equivariant readout heads give the correct tensor symmetry by construction.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843784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282549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null-tests the machinery; MgO is where the long-range term has to work.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502152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7008" y="348386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gates run before any network is trained.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learn the full coupling end-to-end?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556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q→0 divergence is not learnable; the analytic form is exact and free.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134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defer quadrupoles?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vanish in centrosymmetric systems — the δQ gate tests whether that holds.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63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training data?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34564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your dataset size and source]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8046720" cy="731520"/>
          </a:xfrm>
          <a:prstGeom prst="roundRect">
            <a:avLst>
              <a:gd name="adj" fmla="val 7500"/>
            </a:avLst>
          </a:prstGeom>
          <a:solidFill>
            <a:srgbClr val="F4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1421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Transferability across chemistries?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0682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[state honestly what is and is not tested]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MACE-H-LR</dc:title>
  <dc:subject>PptxGenJS Presentation</dc:subject>
  <dc:creator>Jeremiah</dc:creator>
  <cp:lastModifiedBy>Jeremiah</cp:lastModifiedBy>
  <cp:revision>1</cp:revision>
  <dcterms:created xsi:type="dcterms:W3CDTF">2026-07-23T02:39:24Z</dcterms:created>
  <dcterms:modified xsi:type="dcterms:W3CDTF">2026-07-23T02:39:24Z</dcterms:modified>
</cp:coreProperties>
</file>